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프로젝트의 핵심은 학생에게 어떤 학과를 추천할 것인가를 바로 결정하는 시스템이 아닙니다. 현재 목표는 학과별 추천 고등학교 과목 정보를 사용했을 때, 학과들이 의미 있게 묶이는지 확인하는 탐색적 clustering입니다. 결과는 상담을 보조하기 위한 분석 자료로 보는 것이 적절합니다.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24개 학과는 전체 학과를 통계적으로 대표하기 위한 무작위 표본이 아닙니다. 짧은 기간 안에 clustering 가능성과 해석 가능성을 확인하기 위해, 과목 프로필 다양성, 상담 관련성, 해석 가능성을 기준으로 목적 표본을 구성했습니다.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분석의 핵심 데이터는 department-course matrix입니다. 각 행은 학과이고 각 열은 추천 과목입니다. 값은 핵심 추천 과목 1.0, 관련 또는 보조 과목 0.5, 언급되지 않은 과목 0.0으로 구성했습니다. clustering에는 과목 열만 사용하고 metadata는 feature에서 제외했습니다.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현재 구현된 첫 번째 방법은 hierarchical clustering입니다. 학과 간 유사도는 학과명이나 계열 정보가 아니라 추천 과목 프로필만으로 계산됩니다. similarity matrix, heatmap, dendrogram, cluster assignment를 예비 결과로 볼 수 있습니다. 다만 이 결과는 최종 분류가 아니라 exploratory result로 해석해야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단계에서는 hierarchical clustering 결과만으로 결론을 내리지 않고 k-means clustering과 비교해 군집 구조의 안정성을 확인할 계획입니다. 또한 binary vector를 사용한 sensitivity analysis를 수행할 수 있습니다. expert consensus와 admission feasibility는 future work로 남겨두겠습니다.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11155680" cy="502920"/>
          </a:xfrm>
          <a:prstGeom prst="rect">
            <a:avLst/>
          </a:prstGeom>
          <a:noFill/>
        </p:spPr>
        <p:txBody>
          <a:bodyPr wrap="none">
            <a:spAutoFit/>
          </a:bodyPr>
          <a:lstStyle/>
          <a:p>
            <a:pPr>
              <a:defRPr sz="2400" b="1">
                <a:solidFill>
                  <a:srgbClr val="202D3F"/>
                </a:solidFill>
                <a:latin typeface="Aptos Display"/>
              </a:defRPr>
            </a:pPr>
            <a:r>
              <a:t>Project Overview</a:t>
            </a:r>
          </a:p>
        </p:txBody>
      </p:sp>
      <p:sp>
        <p:nvSpPr>
          <p:cNvPr id="3" name="Rectangle 2"/>
          <p:cNvSpPr/>
          <p:nvPr/>
        </p:nvSpPr>
        <p:spPr>
          <a:xfrm>
            <a:off x="502920" y="804672"/>
            <a:ext cx="1051560" cy="54864"/>
          </a:xfrm>
          <a:prstGeom prst="rect">
            <a:avLst/>
          </a:prstGeom>
          <a:solidFill>
            <a:srgbClr val="278E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234440"/>
            <a:ext cx="4983480" cy="2880360"/>
          </a:xfrm>
          <a:prstGeom prst="rect">
            <a:avLst/>
          </a:prstGeom>
          <a:noFill/>
        </p:spPr>
        <p:txBody>
          <a:bodyPr wrap="square">
            <a:normAutofit/>
          </a:bodyPr>
          <a:lstStyle/>
          <a:p>
            <a:pPr>
              <a:spcAft>
                <a:spcPts val="700"/>
              </a:spcAft>
              <a:defRPr sz="1700">
                <a:solidFill>
                  <a:srgbClr val="262A30"/>
                </a:solidFill>
                <a:latin typeface="Aptos"/>
              </a:defRPr>
            </a:pPr>
            <a:r>
              <a:t>Exploratory clustering of academic departments using recommended high-school course profiles</a:t>
            </a:r>
          </a:p>
          <a:p>
            <a:pPr>
              <a:spcAft>
                <a:spcPts val="700"/>
              </a:spcAft>
              <a:defRPr sz="1700">
                <a:solidFill>
                  <a:srgbClr val="262A30"/>
                </a:solidFill>
                <a:latin typeface="Aptos"/>
              </a:defRPr>
            </a:pPr>
            <a:r>
              <a:t>Designed to support admission counseling, not to replace counseling decisions</a:t>
            </a:r>
          </a:p>
          <a:p>
            <a:pPr>
              <a:spcAft>
                <a:spcPts val="700"/>
              </a:spcAft>
              <a:defRPr sz="1700">
                <a:solidFill>
                  <a:srgbClr val="262A30"/>
                </a:solidFill>
                <a:latin typeface="Aptos"/>
              </a:defRPr>
            </a:pPr>
            <a:r>
              <a:t>The project is not a complete department recommendation system</a:t>
            </a:r>
          </a:p>
          <a:p>
            <a:pPr>
              <a:spcAft>
                <a:spcPts val="700"/>
              </a:spcAft>
              <a:defRPr sz="1700">
                <a:solidFill>
                  <a:srgbClr val="262A30"/>
                </a:solidFill>
                <a:latin typeface="Aptos"/>
              </a:defRPr>
            </a:pPr>
            <a:r>
              <a:t>Main question: can course profiles produce interpretable department clusters?</a:t>
            </a:r>
          </a:p>
          <a:p>
            <a:pPr>
              <a:spcAft>
                <a:spcPts val="700"/>
              </a:spcAft>
              <a:defRPr sz="1700">
                <a:solidFill>
                  <a:srgbClr val="262A30"/>
                </a:solidFill>
                <a:latin typeface="Aptos"/>
              </a:defRPr>
            </a:pPr>
            <a:r>
              <a:t>Current stage focuses on data structure and preliminary clustering results</a:t>
            </a:r>
          </a:p>
        </p:txBody>
      </p:sp>
      <p:sp>
        <p:nvSpPr>
          <p:cNvPr id="5" name="TextBox 4"/>
          <p:cNvSpPr txBox="1"/>
          <p:nvPr/>
        </p:nvSpPr>
        <p:spPr>
          <a:xfrm>
            <a:off x="502920" y="6446520"/>
            <a:ext cx="11064240" cy="201168"/>
          </a:xfrm>
          <a:prstGeom prst="rect">
            <a:avLst/>
          </a:prstGeom>
          <a:noFill/>
        </p:spPr>
        <p:txBody>
          <a:bodyPr wrap="none">
            <a:spAutoFit/>
          </a:bodyPr>
          <a:lstStyle/>
          <a:p>
            <a:pPr>
              <a:defRPr sz="800">
                <a:solidFill>
                  <a:srgbClr val="636C76"/>
                </a:solidFill>
                <a:latin typeface="Aptos"/>
              </a:defRPr>
            </a:pPr>
            <a:r>
              <a:t>NOVA50301 AI Toolkit Progress Meeting | 1/5</a:t>
            </a:r>
          </a:p>
        </p:txBody>
      </p:sp>
      <p:sp>
        <p:nvSpPr>
          <p:cNvPr id="6" name="Rounded Rectangle 5"/>
          <p:cNvSpPr/>
          <p:nvPr/>
        </p:nvSpPr>
        <p:spPr>
          <a:xfrm>
            <a:off x="777240" y="4754880"/>
            <a:ext cx="2103120" cy="621792"/>
          </a:xfrm>
          <a:prstGeom prst="roundRect">
            <a:avLst/>
          </a:prstGeom>
          <a:solidFill>
            <a:srgbClr val="278E89"/>
          </a:solidFill>
          <a:ln>
            <a:solidFill>
              <a:srgbClr val="278E89"/>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Aptos"/>
              </a:defRPr>
            </a:pPr>
            <a:r>
              <a:t>Department</a:t>
            </a:r>
            <a:br/>
            <a:r>
              <a:t>selection</a:t>
            </a:r>
          </a:p>
        </p:txBody>
      </p:sp>
      <p:sp>
        <p:nvSpPr>
          <p:cNvPr id="7" name="Right Arrow 6"/>
          <p:cNvSpPr/>
          <p:nvPr/>
        </p:nvSpPr>
        <p:spPr>
          <a:xfrm>
            <a:off x="2990088" y="4882896"/>
            <a:ext cx="438912" cy="292608"/>
          </a:xfrm>
          <a:prstGeom prst="rightArrow">
            <a:avLst/>
          </a:prstGeom>
          <a:solidFill>
            <a:srgbClr val="D6DB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566160" y="4754880"/>
            <a:ext cx="2103120" cy="621792"/>
          </a:xfrm>
          <a:prstGeom prst="roundRect">
            <a:avLst/>
          </a:prstGeom>
          <a:solidFill>
            <a:srgbClr val="5C9760"/>
          </a:solidFill>
          <a:ln>
            <a:solidFill>
              <a:srgbClr val="5C976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Aptos"/>
              </a:defRPr>
            </a:pPr>
            <a:r>
              <a:t>Course-profile</a:t>
            </a:r>
            <a:br/>
            <a:r>
              <a:t>matrix</a:t>
            </a:r>
          </a:p>
        </p:txBody>
      </p:sp>
      <p:sp>
        <p:nvSpPr>
          <p:cNvPr id="9" name="Right Arrow 8"/>
          <p:cNvSpPr/>
          <p:nvPr/>
        </p:nvSpPr>
        <p:spPr>
          <a:xfrm>
            <a:off x="5779008" y="4882896"/>
            <a:ext cx="438912" cy="292608"/>
          </a:xfrm>
          <a:prstGeom prst="rightArrow">
            <a:avLst/>
          </a:prstGeom>
          <a:solidFill>
            <a:srgbClr val="D6DB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55079" y="4754880"/>
            <a:ext cx="2103120" cy="621792"/>
          </a:xfrm>
          <a:prstGeom prst="roundRect">
            <a:avLst/>
          </a:prstGeom>
          <a:solidFill>
            <a:srgbClr val="D69744"/>
          </a:solidFill>
          <a:ln>
            <a:solidFill>
              <a:srgbClr val="D6974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Aptos"/>
              </a:defRPr>
            </a:pPr>
            <a:r>
              <a:t>Hierarchical</a:t>
            </a:r>
            <a:br/>
            <a:r>
              <a:t>clustering</a:t>
            </a:r>
          </a:p>
        </p:txBody>
      </p:sp>
      <p:sp>
        <p:nvSpPr>
          <p:cNvPr id="11" name="Right Arrow 10"/>
          <p:cNvSpPr/>
          <p:nvPr/>
        </p:nvSpPr>
        <p:spPr>
          <a:xfrm>
            <a:off x="8567928" y="4882896"/>
            <a:ext cx="438912" cy="292608"/>
          </a:xfrm>
          <a:prstGeom prst="rightArrow">
            <a:avLst/>
          </a:prstGeom>
          <a:solidFill>
            <a:srgbClr val="D6DB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144000" y="4754880"/>
            <a:ext cx="2103120" cy="621792"/>
          </a:xfrm>
          <a:prstGeom prst="roundRect">
            <a:avLst/>
          </a:prstGeom>
          <a:solidFill>
            <a:srgbClr val="914348"/>
          </a:solidFill>
          <a:ln>
            <a:solidFill>
              <a:srgbClr val="91434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Aptos"/>
              </a:defRPr>
            </a:pPr>
            <a:r>
              <a:t>Exploratory</a:t>
            </a:r>
            <a:br/>
            <a:r>
              <a:t>interpretation</a:t>
            </a:r>
          </a:p>
        </p:txBody>
      </p:sp>
      <p:sp>
        <p:nvSpPr>
          <p:cNvPr id="13" name="TextBox 12"/>
          <p:cNvSpPr txBox="1"/>
          <p:nvPr/>
        </p:nvSpPr>
        <p:spPr>
          <a:xfrm>
            <a:off x="777240" y="5532120"/>
            <a:ext cx="8229600" cy="228600"/>
          </a:xfrm>
          <a:prstGeom prst="rect">
            <a:avLst/>
          </a:prstGeom>
          <a:noFill/>
        </p:spPr>
        <p:txBody>
          <a:bodyPr wrap="square">
            <a:spAutoFit/>
          </a:bodyPr>
          <a:lstStyle/>
          <a:p>
            <a:pPr>
              <a:defRPr sz="1000">
                <a:solidFill>
                  <a:srgbClr val="636C76"/>
                </a:solidFill>
                <a:latin typeface="Aptos"/>
              </a:defRPr>
            </a:pPr>
            <a:r>
              <a:t>Recommended figure: project pipeline diagram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11155680" cy="502920"/>
          </a:xfrm>
          <a:prstGeom prst="rect">
            <a:avLst/>
          </a:prstGeom>
          <a:noFill/>
        </p:spPr>
        <p:txBody>
          <a:bodyPr wrap="none">
            <a:spAutoFit/>
          </a:bodyPr>
          <a:lstStyle/>
          <a:p>
            <a:pPr>
              <a:defRPr sz="2400" b="1">
                <a:solidFill>
                  <a:srgbClr val="202D3F"/>
                </a:solidFill>
                <a:latin typeface="Aptos Display"/>
              </a:defRPr>
            </a:pPr>
            <a:r>
              <a:t>Why 24 Departments?</a:t>
            </a:r>
          </a:p>
        </p:txBody>
      </p:sp>
      <p:sp>
        <p:nvSpPr>
          <p:cNvPr id="3" name="Rectangle 2"/>
          <p:cNvSpPr/>
          <p:nvPr/>
        </p:nvSpPr>
        <p:spPr>
          <a:xfrm>
            <a:off x="502920" y="804672"/>
            <a:ext cx="1051560" cy="54864"/>
          </a:xfrm>
          <a:prstGeom prst="rect">
            <a:avLst/>
          </a:prstGeom>
          <a:solidFill>
            <a:srgbClr val="278E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234440"/>
            <a:ext cx="4983480" cy="2880360"/>
          </a:xfrm>
          <a:prstGeom prst="rect">
            <a:avLst/>
          </a:prstGeom>
          <a:noFill/>
        </p:spPr>
        <p:txBody>
          <a:bodyPr wrap="square">
            <a:normAutofit/>
          </a:bodyPr>
          <a:lstStyle/>
          <a:p>
            <a:pPr>
              <a:spcAft>
                <a:spcPts val="700"/>
              </a:spcAft>
              <a:defRPr sz="1700">
                <a:solidFill>
                  <a:srgbClr val="262A30"/>
                </a:solidFill>
                <a:latin typeface="Aptos"/>
              </a:defRPr>
            </a:pPr>
            <a:r>
              <a:t>The 24 departments are a purposive sample, not a statistically representative sample</a:t>
            </a:r>
          </a:p>
          <a:p>
            <a:pPr>
              <a:spcAft>
                <a:spcPts val="700"/>
              </a:spcAft>
              <a:defRPr sz="1700">
                <a:solidFill>
                  <a:srgbClr val="262A30"/>
                </a:solidFill>
                <a:latin typeface="Aptos"/>
              </a:defRPr>
            </a:pPr>
            <a:r>
              <a:t>Departments were selected to maximize course-profile diversity</a:t>
            </a:r>
          </a:p>
          <a:p>
            <a:pPr>
              <a:spcAft>
                <a:spcPts val="700"/>
              </a:spcAft>
              <a:defRPr sz="1700">
                <a:solidFill>
                  <a:srgbClr val="262A30"/>
                </a:solidFill>
                <a:latin typeface="Aptos"/>
              </a:defRPr>
            </a:pPr>
            <a:r>
              <a:t>Counseling relevance was considered to reflect realistic admission guidance contexts</a:t>
            </a:r>
          </a:p>
          <a:p>
            <a:pPr>
              <a:spcAft>
                <a:spcPts val="700"/>
              </a:spcAft>
              <a:defRPr sz="1700">
                <a:solidFill>
                  <a:srgbClr val="262A30"/>
                </a:solidFill>
                <a:latin typeface="Aptos"/>
              </a:defRPr>
            </a:pPr>
            <a:r>
              <a:t>Interpretability was prioritized for a short exploratory clustering study</a:t>
            </a:r>
          </a:p>
          <a:p>
            <a:pPr>
              <a:spcAft>
                <a:spcPts val="700"/>
              </a:spcAft>
              <a:defRPr sz="1700">
                <a:solidFill>
                  <a:srgbClr val="262A30"/>
                </a:solidFill>
                <a:latin typeface="Aptos"/>
              </a:defRPr>
            </a:pPr>
            <a:r>
              <a:t>The sample size was chosen to keep the analysis manageable and explainable</a:t>
            </a:r>
          </a:p>
        </p:txBody>
      </p:sp>
      <p:sp>
        <p:nvSpPr>
          <p:cNvPr id="5" name="TextBox 4"/>
          <p:cNvSpPr txBox="1"/>
          <p:nvPr/>
        </p:nvSpPr>
        <p:spPr>
          <a:xfrm>
            <a:off x="502920" y="6446520"/>
            <a:ext cx="11064240" cy="201168"/>
          </a:xfrm>
          <a:prstGeom prst="rect">
            <a:avLst/>
          </a:prstGeom>
          <a:noFill/>
        </p:spPr>
        <p:txBody>
          <a:bodyPr wrap="none">
            <a:spAutoFit/>
          </a:bodyPr>
          <a:lstStyle/>
          <a:p>
            <a:pPr>
              <a:defRPr sz="800">
                <a:solidFill>
                  <a:srgbClr val="636C76"/>
                </a:solidFill>
                <a:latin typeface="Aptos"/>
              </a:defRPr>
            </a:pPr>
            <a:r>
              <a:t>NOVA50301 AI Toolkit Progress Meeting | 2/5</a:t>
            </a:r>
          </a:p>
        </p:txBody>
      </p:sp>
      <p:graphicFrame>
        <p:nvGraphicFramePr>
          <p:cNvPr id="6" name="Table 5"/>
          <p:cNvGraphicFramePr>
            <a:graphicFrameLocks noGrp="1"/>
          </p:cNvGraphicFramePr>
          <p:nvPr/>
        </p:nvGraphicFramePr>
        <p:xfrm>
          <a:off x="777240" y="3977639"/>
          <a:ext cx="10607040" cy="1417320"/>
        </p:xfrm>
        <a:graphic>
          <a:graphicData uri="http://schemas.openxmlformats.org/drawingml/2006/table">
            <a:tbl>
              <a:tblPr firstRow="1" bandRow="1">
                <a:tableStyleId>{5C22544A-7EE6-4342-B048-85BDC9FD1C3A}</a:tableStyleId>
              </a:tblPr>
              <a:tblGrid>
                <a:gridCol w="2743200"/>
                <a:gridCol w="3840480"/>
                <a:gridCol w="4023360"/>
              </a:tblGrid>
              <a:tr h="354330">
                <a:tc>
                  <a:txBody>
                    <a:bodyPr/>
                    <a:lstStyle/>
                    <a:p>
                      <a:pPr>
                        <a:defRPr b="1" sz="1000">
                          <a:solidFill>
                            <a:srgbClr val="FFFFFF"/>
                          </a:solidFill>
                        </a:defRPr>
                      </a:pPr>
                      <a:r>
                        <a:t>Selection Criterion</a:t>
                      </a:r>
                    </a:p>
                  </a:txBody>
                  <a:tcPr>
                    <a:solidFill>
                      <a:srgbClr val="202D3F"/>
                    </a:solidFill>
                  </a:tcPr>
                </a:tc>
                <a:tc>
                  <a:txBody>
                    <a:bodyPr/>
                    <a:lstStyle/>
                    <a:p>
                      <a:pPr>
                        <a:defRPr b="1" sz="1000">
                          <a:solidFill>
                            <a:srgbClr val="FFFFFF"/>
                          </a:solidFill>
                        </a:defRPr>
                      </a:pPr>
                      <a:r>
                        <a:t>Meaning</a:t>
                      </a:r>
                    </a:p>
                  </a:txBody>
                  <a:tcPr>
                    <a:solidFill>
                      <a:srgbClr val="202D3F"/>
                    </a:solidFill>
                  </a:tcPr>
                </a:tc>
                <a:tc>
                  <a:txBody>
                    <a:bodyPr/>
                    <a:lstStyle/>
                    <a:p>
                      <a:pPr>
                        <a:defRPr b="1" sz="1000">
                          <a:solidFill>
                            <a:srgbClr val="FFFFFF"/>
                          </a:solidFill>
                        </a:defRPr>
                      </a:pPr>
                      <a:r>
                        <a:t>Role in Project</a:t>
                      </a:r>
                    </a:p>
                  </a:txBody>
                  <a:tcPr>
                    <a:solidFill>
                      <a:srgbClr val="202D3F"/>
                    </a:solidFill>
                  </a:tcPr>
                </a:tc>
              </a:tr>
              <a:tr h="354330">
                <a:tc>
                  <a:txBody>
                    <a:bodyPr/>
                    <a:lstStyle/>
                    <a:p>
                      <a:pPr>
                        <a:defRPr sz="900">
                          <a:solidFill>
                            <a:srgbClr val="262A30"/>
                          </a:solidFill>
                        </a:defRPr>
                      </a:pPr>
                      <a:r>
                        <a:t>Course-profile diversity</a:t>
                      </a:r>
                    </a:p>
                  </a:txBody>
                  <a:tcPr/>
                </a:tc>
                <a:tc>
                  <a:txBody>
                    <a:bodyPr/>
                    <a:lstStyle/>
                    <a:p>
                      <a:pPr>
                        <a:defRPr sz="900">
                          <a:solidFill>
                            <a:srgbClr val="262A30"/>
                          </a:solidFill>
                        </a:defRPr>
                      </a:pPr>
                      <a:r>
                        <a:t>Include contrasting course patterns</a:t>
                      </a:r>
                    </a:p>
                  </a:txBody>
                  <a:tcPr/>
                </a:tc>
                <a:tc>
                  <a:txBody>
                    <a:bodyPr/>
                    <a:lstStyle/>
                    <a:p>
                      <a:pPr>
                        <a:defRPr sz="900">
                          <a:solidFill>
                            <a:srgbClr val="262A30"/>
                          </a:solidFill>
                        </a:defRPr>
                      </a:pPr>
                      <a:r>
                        <a:t>Improve clustering signal</a:t>
                      </a:r>
                    </a:p>
                  </a:txBody>
                  <a:tcPr/>
                </a:tc>
              </a:tr>
              <a:tr h="354330">
                <a:tc>
                  <a:txBody>
                    <a:bodyPr/>
                    <a:lstStyle/>
                    <a:p>
                      <a:pPr>
                        <a:defRPr sz="900">
                          <a:solidFill>
                            <a:srgbClr val="262A30"/>
                          </a:solidFill>
                        </a:defRPr>
                      </a:pPr>
                      <a:r>
                        <a:t>Counseling relevance</a:t>
                      </a:r>
                    </a:p>
                  </a:txBody>
                  <a:tcPr/>
                </a:tc>
                <a:tc>
                  <a:txBody>
                    <a:bodyPr/>
                    <a:lstStyle/>
                    <a:p>
                      <a:pPr>
                        <a:defRPr sz="900">
                          <a:solidFill>
                            <a:srgbClr val="262A30"/>
                          </a:solidFill>
                        </a:defRPr>
                      </a:pPr>
                      <a:r>
                        <a:t>Reflect realistic guidance contexts</a:t>
                      </a:r>
                    </a:p>
                  </a:txBody>
                  <a:tcPr/>
                </a:tc>
                <a:tc>
                  <a:txBody>
                    <a:bodyPr/>
                    <a:lstStyle/>
                    <a:p>
                      <a:pPr>
                        <a:defRPr sz="900">
                          <a:solidFill>
                            <a:srgbClr val="262A30"/>
                          </a:solidFill>
                        </a:defRPr>
                      </a:pPr>
                      <a:r>
                        <a:t>Support admission counseling use</a:t>
                      </a:r>
                    </a:p>
                  </a:txBody>
                  <a:tcPr/>
                </a:tc>
              </a:tr>
              <a:tr h="354330">
                <a:tc>
                  <a:txBody>
                    <a:bodyPr/>
                    <a:lstStyle/>
                    <a:p>
                      <a:pPr>
                        <a:defRPr sz="900">
                          <a:solidFill>
                            <a:srgbClr val="262A30"/>
                          </a:solidFill>
                        </a:defRPr>
                      </a:pPr>
                      <a:r>
                        <a:t>Interpretability</a:t>
                      </a:r>
                    </a:p>
                  </a:txBody>
                  <a:tcPr/>
                </a:tc>
                <a:tc>
                  <a:txBody>
                    <a:bodyPr/>
                    <a:lstStyle/>
                    <a:p>
                      <a:pPr>
                        <a:defRPr sz="900">
                          <a:solidFill>
                            <a:srgbClr val="262A30"/>
                          </a:solidFill>
                        </a:defRPr>
                      </a:pPr>
                      <a:r>
                        <a:t>Keep sample explainable</a:t>
                      </a:r>
                    </a:p>
                  </a:txBody>
                  <a:tcPr/>
                </a:tc>
                <a:tc>
                  <a:txBody>
                    <a:bodyPr/>
                    <a:lstStyle/>
                    <a:p>
                      <a:pPr>
                        <a:defRPr sz="900">
                          <a:solidFill>
                            <a:srgbClr val="262A30"/>
                          </a:solidFill>
                        </a:defRPr>
                      </a:pPr>
                      <a:r>
                        <a:t>Fit a short exploratory study</a:t>
                      </a:r>
                    </a:p>
                  </a:txBody>
                  <a:tcPr/>
                </a:tc>
              </a:tr>
            </a:tbl>
          </a:graphicData>
        </a:graphic>
      </p:graphicFrame>
      <p:sp>
        <p:nvSpPr>
          <p:cNvPr id="7" name="TextBox 6"/>
          <p:cNvSpPr txBox="1"/>
          <p:nvPr/>
        </p:nvSpPr>
        <p:spPr>
          <a:xfrm>
            <a:off x="777240" y="5532120"/>
            <a:ext cx="8961120" cy="228600"/>
          </a:xfrm>
          <a:prstGeom prst="rect">
            <a:avLst/>
          </a:prstGeom>
          <a:noFill/>
        </p:spPr>
        <p:txBody>
          <a:bodyPr wrap="square">
            <a:spAutoFit/>
          </a:bodyPr>
          <a:lstStyle/>
          <a:p>
            <a:pPr>
              <a:defRPr sz="1000">
                <a:solidFill>
                  <a:srgbClr val="636C76"/>
                </a:solidFill>
                <a:latin typeface="Aptos"/>
              </a:defRPr>
            </a:pPr>
            <a:r>
              <a:t>Recommended table: rationale for purposive department selection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11155680" cy="502920"/>
          </a:xfrm>
          <a:prstGeom prst="rect">
            <a:avLst/>
          </a:prstGeom>
          <a:noFill/>
        </p:spPr>
        <p:txBody>
          <a:bodyPr wrap="none">
            <a:spAutoFit/>
          </a:bodyPr>
          <a:lstStyle/>
          <a:p>
            <a:pPr>
              <a:defRPr sz="2400" b="1">
                <a:solidFill>
                  <a:srgbClr val="202D3F"/>
                </a:solidFill>
                <a:latin typeface="Aptos Display"/>
              </a:defRPr>
            </a:pPr>
            <a:r>
              <a:t>Data Structure</a:t>
            </a:r>
          </a:p>
        </p:txBody>
      </p:sp>
      <p:sp>
        <p:nvSpPr>
          <p:cNvPr id="3" name="Rectangle 2"/>
          <p:cNvSpPr/>
          <p:nvPr/>
        </p:nvSpPr>
        <p:spPr>
          <a:xfrm>
            <a:off x="502920" y="804672"/>
            <a:ext cx="1051560" cy="54864"/>
          </a:xfrm>
          <a:prstGeom prst="rect">
            <a:avLst/>
          </a:prstGeom>
          <a:solidFill>
            <a:srgbClr val="278E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234440"/>
            <a:ext cx="4983480" cy="2880360"/>
          </a:xfrm>
          <a:prstGeom prst="rect">
            <a:avLst/>
          </a:prstGeom>
          <a:noFill/>
        </p:spPr>
        <p:txBody>
          <a:bodyPr wrap="square">
            <a:normAutofit/>
          </a:bodyPr>
          <a:lstStyle/>
          <a:p>
            <a:pPr>
              <a:spcAft>
                <a:spcPts val="700"/>
              </a:spcAft>
              <a:defRPr sz="1700">
                <a:solidFill>
                  <a:srgbClr val="262A30"/>
                </a:solidFill>
                <a:latin typeface="Aptos"/>
              </a:defRPr>
            </a:pPr>
            <a:r>
              <a:t>Main dataset: a department-course matrix</a:t>
            </a:r>
          </a:p>
          <a:p>
            <a:pPr>
              <a:spcAft>
                <a:spcPts val="700"/>
              </a:spcAft>
              <a:defRPr sz="1700">
                <a:solidFill>
                  <a:srgbClr val="262A30"/>
                </a:solidFill>
                <a:latin typeface="Aptos"/>
              </a:defRPr>
            </a:pPr>
            <a:r>
              <a:t>Rows represent academic departments</a:t>
            </a:r>
          </a:p>
          <a:p>
            <a:pPr>
              <a:spcAft>
                <a:spcPts val="700"/>
              </a:spcAft>
              <a:defRPr sz="1700">
                <a:solidFill>
                  <a:srgbClr val="262A30"/>
                </a:solidFill>
                <a:latin typeface="Aptos"/>
              </a:defRPr>
            </a:pPr>
            <a:r>
              <a:t>Columns represent recommended high-school courses</a:t>
            </a:r>
          </a:p>
          <a:p>
            <a:pPr>
              <a:spcAft>
                <a:spcPts val="700"/>
              </a:spcAft>
              <a:defRPr sz="1700">
                <a:solidFill>
                  <a:srgbClr val="262A30"/>
                </a:solidFill>
                <a:latin typeface="Aptos"/>
              </a:defRPr>
            </a:pPr>
            <a:r>
              <a:t>Course values: 1.0 = core, 0.5 = related/supporting, 0.0 = not mentioned</a:t>
            </a:r>
          </a:p>
          <a:p>
            <a:pPr>
              <a:spcAft>
                <a:spcPts val="700"/>
              </a:spcAft>
              <a:defRPr sz="1700">
                <a:solidFill>
                  <a:srgbClr val="262A30"/>
                </a:solidFill>
                <a:latin typeface="Aptos"/>
              </a:defRPr>
            </a:pPr>
            <a:r>
              <a:t>Only course columns are used as clustering features</a:t>
            </a:r>
          </a:p>
        </p:txBody>
      </p:sp>
      <p:sp>
        <p:nvSpPr>
          <p:cNvPr id="5" name="TextBox 4"/>
          <p:cNvSpPr txBox="1"/>
          <p:nvPr/>
        </p:nvSpPr>
        <p:spPr>
          <a:xfrm>
            <a:off x="502920" y="6446520"/>
            <a:ext cx="11064240" cy="201168"/>
          </a:xfrm>
          <a:prstGeom prst="rect">
            <a:avLst/>
          </a:prstGeom>
          <a:noFill/>
        </p:spPr>
        <p:txBody>
          <a:bodyPr wrap="none">
            <a:spAutoFit/>
          </a:bodyPr>
          <a:lstStyle/>
          <a:p>
            <a:pPr>
              <a:defRPr sz="800">
                <a:solidFill>
                  <a:srgbClr val="636C76"/>
                </a:solidFill>
                <a:latin typeface="Aptos"/>
              </a:defRPr>
            </a:pPr>
            <a:r>
              <a:t>NOVA50301 AI Toolkit Progress Meeting | 3/5</a:t>
            </a:r>
          </a:p>
        </p:txBody>
      </p:sp>
      <p:graphicFrame>
        <p:nvGraphicFramePr>
          <p:cNvPr id="6" name="Table 5"/>
          <p:cNvGraphicFramePr>
            <a:graphicFrameLocks noGrp="1"/>
          </p:cNvGraphicFramePr>
          <p:nvPr/>
        </p:nvGraphicFramePr>
        <p:xfrm>
          <a:off x="777240" y="3703320"/>
          <a:ext cx="10012680" cy="1691640"/>
        </p:xfrm>
        <a:graphic>
          <a:graphicData uri="http://schemas.openxmlformats.org/drawingml/2006/table">
            <a:tbl>
              <a:tblPr firstRow="1" bandRow="1">
                <a:tableStyleId>{5C22544A-7EE6-4342-B048-85BDC9FD1C3A}</a:tableStyleId>
              </a:tblPr>
              <a:tblGrid>
                <a:gridCol w="2926080"/>
                <a:gridCol w="1417320"/>
                <a:gridCol w="1417320"/>
                <a:gridCol w="1417320"/>
                <a:gridCol w="1417320"/>
                <a:gridCol w="1417320"/>
              </a:tblGrid>
              <a:tr h="422910">
                <a:tc>
                  <a:txBody>
                    <a:bodyPr/>
                    <a:lstStyle/>
                    <a:p>
                      <a:pPr>
                        <a:defRPr sz="850" b="1">
                          <a:solidFill>
                            <a:srgbClr val="FFFFFF"/>
                          </a:solidFill>
                        </a:defRPr>
                      </a:pPr>
                      <a:r>
                        <a:t>department_name</a:t>
                      </a:r>
                    </a:p>
                  </a:txBody>
                  <a:tcPr>
                    <a:solidFill>
                      <a:srgbClr val="202D3F"/>
                    </a:solidFill>
                  </a:tcPr>
                </a:tc>
                <a:tc>
                  <a:txBody>
                    <a:bodyPr/>
                    <a:lstStyle/>
                    <a:p>
                      <a:pPr>
                        <a:defRPr sz="850" b="1">
                          <a:solidFill>
                            <a:srgbClr val="FFFFFF"/>
                          </a:solidFill>
                        </a:defRPr>
                      </a:pPr>
                      <a:r>
                        <a:t>Mathematics</a:t>
                      </a:r>
                    </a:p>
                  </a:txBody>
                  <a:tcPr>
                    <a:solidFill>
                      <a:srgbClr val="202D3F"/>
                    </a:solidFill>
                  </a:tcPr>
                </a:tc>
                <a:tc>
                  <a:txBody>
                    <a:bodyPr/>
                    <a:lstStyle/>
                    <a:p>
                      <a:pPr>
                        <a:defRPr sz="850" b="1">
                          <a:solidFill>
                            <a:srgbClr val="FFFFFF"/>
                          </a:solidFill>
                        </a:defRPr>
                      </a:pPr>
                      <a:r>
                        <a:t>Physics</a:t>
                      </a:r>
                    </a:p>
                  </a:txBody>
                  <a:tcPr>
                    <a:solidFill>
                      <a:srgbClr val="202D3F"/>
                    </a:solidFill>
                  </a:tcPr>
                </a:tc>
                <a:tc>
                  <a:txBody>
                    <a:bodyPr/>
                    <a:lstStyle/>
                    <a:p>
                      <a:pPr>
                        <a:defRPr sz="850" b="1">
                          <a:solidFill>
                            <a:srgbClr val="FFFFFF"/>
                          </a:solidFill>
                        </a:defRPr>
                      </a:pPr>
                      <a:r>
                        <a:t>Chemistry</a:t>
                      </a:r>
                    </a:p>
                  </a:txBody>
                  <a:tcPr>
                    <a:solidFill>
                      <a:srgbClr val="202D3F"/>
                    </a:solidFill>
                  </a:tcPr>
                </a:tc>
                <a:tc>
                  <a:txBody>
                    <a:bodyPr/>
                    <a:lstStyle/>
                    <a:p>
                      <a:pPr>
                        <a:defRPr sz="850" b="1">
                          <a:solidFill>
                            <a:srgbClr val="FFFFFF"/>
                          </a:solidFill>
                        </a:defRPr>
                      </a:pPr>
                      <a:r>
                        <a:t>Biology</a:t>
                      </a:r>
                    </a:p>
                  </a:txBody>
                  <a:tcPr>
                    <a:solidFill>
                      <a:srgbClr val="202D3F"/>
                    </a:solidFill>
                  </a:tcPr>
                </a:tc>
                <a:tc>
                  <a:txBody>
                    <a:bodyPr/>
                    <a:lstStyle/>
                    <a:p>
                      <a:pPr>
                        <a:defRPr sz="850" b="1">
                          <a:solidFill>
                            <a:srgbClr val="FFFFFF"/>
                          </a:solidFill>
                        </a:defRPr>
                      </a:pPr>
                      <a:r>
                        <a:t>Economics</a:t>
                      </a:r>
                    </a:p>
                  </a:txBody>
                  <a:tcPr>
                    <a:solidFill>
                      <a:srgbClr val="202D3F"/>
                    </a:solidFill>
                  </a:tcPr>
                </a:tc>
              </a:tr>
              <a:tr h="422910">
                <a:tc>
                  <a:txBody>
                    <a:bodyPr/>
                    <a:lstStyle/>
                    <a:p>
                      <a:pPr>
                        <a:defRPr sz="850">
                          <a:solidFill>
                            <a:srgbClr val="262A30"/>
                          </a:solidFill>
                        </a:defRPr>
                      </a:pPr>
                      <a:r>
                        <a:t>Mechanical Engineering</a:t>
                      </a:r>
                    </a:p>
                  </a:txBody>
                  <a:tcPr/>
                </a:tc>
                <a:tc>
                  <a:txBody>
                    <a:bodyPr/>
                    <a:lstStyle/>
                    <a:p>
                      <a:pPr>
                        <a:defRPr sz="850">
                          <a:solidFill>
                            <a:srgbClr val="262A30"/>
                          </a:solidFill>
                        </a:defRPr>
                      </a:pPr>
                      <a:r>
                        <a:t>1.0</a:t>
                      </a:r>
                    </a:p>
                  </a:txBody>
                  <a:tcPr>
                    <a:solidFill>
                      <a:srgbClr val="E0F2EE"/>
                    </a:solidFill>
                  </a:tcPr>
                </a:tc>
                <a:tc>
                  <a:txBody>
                    <a:bodyPr/>
                    <a:lstStyle/>
                    <a:p>
                      <a:pPr>
                        <a:defRPr sz="850">
                          <a:solidFill>
                            <a:srgbClr val="262A30"/>
                          </a:solidFill>
                        </a:defRPr>
                      </a:pPr>
                      <a:r>
                        <a:t>1.0</a:t>
                      </a:r>
                    </a:p>
                  </a:txBody>
                  <a:tcPr>
                    <a:solidFill>
                      <a:srgbClr val="E0F2EE"/>
                    </a:solidFill>
                  </a:tcPr>
                </a:tc>
                <a:tc>
                  <a:txBody>
                    <a:bodyPr/>
                    <a:lstStyle/>
                    <a:p>
                      <a:pPr>
                        <a:defRPr sz="850">
                          <a:solidFill>
                            <a:srgbClr val="262A30"/>
                          </a:solidFill>
                        </a:defRPr>
                      </a:pPr>
                      <a:r>
                        <a:t>0.5</a:t>
                      </a:r>
                    </a:p>
                  </a:txBody>
                  <a:tcPr>
                    <a:solidFill>
                      <a:srgbClr val="F6EDD6"/>
                    </a:solidFill>
                  </a:tcPr>
                </a:tc>
                <a:tc>
                  <a:txBody>
                    <a:bodyPr/>
                    <a:lstStyle/>
                    <a:p>
                      <a:pPr>
                        <a:defRPr sz="850">
                          <a:solidFill>
                            <a:srgbClr val="262A30"/>
                          </a:solidFill>
                        </a:defRPr>
                      </a:pPr>
                      <a:r>
                        <a:t>0.0</a:t>
                      </a:r>
                    </a:p>
                  </a:txBody>
                  <a:tcPr/>
                </a:tc>
                <a:tc>
                  <a:txBody>
                    <a:bodyPr/>
                    <a:lstStyle/>
                    <a:p>
                      <a:pPr>
                        <a:defRPr sz="850">
                          <a:solidFill>
                            <a:srgbClr val="262A30"/>
                          </a:solidFill>
                        </a:defRPr>
                      </a:pPr>
                      <a:r>
                        <a:t>0.0</a:t>
                      </a:r>
                    </a:p>
                  </a:txBody>
                  <a:tcPr/>
                </a:tc>
              </a:tr>
              <a:tr h="422910">
                <a:tc>
                  <a:txBody>
                    <a:bodyPr/>
                    <a:lstStyle/>
                    <a:p>
                      <a:pPr>
                        <a:defRPr sz="850">
                          <a:solidFill>
                            <a:srgbClr val="262A30"/>
                          </a:solidFill>
                        </a:defRPr>
                      </a:pPr>
                      <a:r>
                        <a:t>Biology</a:t>
                      </a:r>
                    </a:p>
                  </a:txBody>
                  <a:tcPr/>
                </a:tc>
                <a:tc>
                  <a:txBody>
                    <a:bodyPr/>
                    <a:lstStyle/>
                    <a:p>
                      <a:pPr>
                        <a:defRPr sz="850">
                          <a:solidFill>
                            <a:srgbClr val="262A30"/>
                          </a:solidFill>
                        </a:defRPr>
                      </a:pPr>
                      <a:r>
                        <a:t>0.5</a:t>
                      </a:r>
                    </a:p>
                  </a:txBody>
                  <a:tcPr>
                    <a:solidFill>
                      <a:srgbClr val="F6EDD6"/>
                    </a:solidFill>
                  </a:tcPr>
                </a:tc>
                <a:tc>
                  <a:txBody>
                    <a:bodyPr/>
                    <a:lstStyle/>
                    <a:p>
                      <a:pPr>
                        <a:defRPr sz="850">
                          <a:solidFill>
                            <a:srgbClr val="262A30"/>
                          </a:solidFill>
                        </a:defRPr>
                      </a:pPr>
                      <a:r>
                        <a:t>0.0</a:t>
                      </a:r>
                    </a:p>
                  </a:txBody>
                  <a:tcPr/>
                </a:tc>
                <a:tc>
                  <a:txBody>
                    <a:bodyPr/>
                    <a:lstStyle/>
                    <a:p>
                      <a:pPr>
                        <a:defRPr sz="850">
                          <a:solidFill>
                            <a:srgbClr val="262A30"/>
                          </a:solidFill>
                        </a:defRPr>
                      </a:pPr>
                      <a:r>
                        <a:t>1.0</a:t>
                      </a:r>
                    </a:p>
                  </a:txBody>
                  <a:tcPr>
                    <a:solidFill>
                      <a:srgbClr val="E0F2EE"/>
                    </a:solidFill>
                  </a:tcPr>
                </a:tc>
                <a:tc>
                  <a:txBody>
                    <a:bodyPr/>
                    <a:lstStyle/>
                    <a:p>
                      <a:pPr>
                        <a:defRPr sz="850">
                          <a:solidFill>
                            <a:srgbClr val="262A30"/>
                          </a:solidFill>
                        </a:defRPr>
                      </a:pPr>
                      <a:r>
                        <a:t>1.0</a:t>
                      </a:r>
                    </a:p>
                  </a:txBody>
                  <a:tcPr>
                    <a:solidFill>
                      <a:srgbClr val="E0F2EE"/>
                    </a:solidFill>
                  </a:tcPr>
                </a:tc>
                <a:tc>
                  <a:txBody>
                    <a:bodyPr/>
                    <a:lstStyle/>
                    <a:p>
                      <a:pPr>
                        <a:defRPr sz="850">
                          <a:solidFill>
                            <a:srgbClr val="262A30"/>
                          </a:solidFill>
                        </a:defRPr>
                      </a:pPr>
                      <a:r>
                        <a:t>0.0</a:t>
                      </a:r>
                    </a:p>
                  </a:txBody>
                  <a:tcPr/>
                </a:tc>
              </a:tr>
              <a:tr h="422910">
                <a:tc>
                  <a:txBody>
                    <a:bodyPr/>
                    <a:lstStyle/>
                    <a:p>
                      <a:pPr>
                        <a:defRPr sz="850">
                          <a:solidFill>
                            <a:srgbClr val="262A30"/>
                          </a:solidFill>
                        </a:defRPr>
                      </a:pPr>
                      <a:r>
                        <a:t>Business Administration</a:t>
                      </a:r>
                    </a:p>
                  </a:txBody>
                  <a:tcPr/>
                </a:tc>
                <a:tc>
                  <a:txBody>
                    <a:bodyPr/>
                    <a:lstStyle/>
                    <a:p>
                      <a:pPr>
                        <a:defRPr sz="850">
                          <a:solidFill>
                            <a:srgbClr val="262A30"/>
                          </a:solidFill>
                        </a:defRPr>
                      </a:pPr>
                      <a:r>
                        <a:t>0.5</a:t>
                      </a:r>
                    </a:p>
                  </a:txBody>
                  <a:tcPr>
                    <a:solidFill>
                      <a:srgbClr val="F6EDD6"/>
                    </a:solidFill>
                  </a:tcPr>
                </a:tc>
                <a:tc>
                  <a:txBody>
                    <a:bodyPr/>
                    <a:lstStyle/>
                    <a:p>
                      <a:pPr>
                        <a:defRPr sz="850">
                          <a:solidFill>
                            <a:srgbClr val="262A30"/>
                          </a:solidFill>
                        </a:defRPr>
                      </a:pPr>
                      <a:r>
                        <a:t>0.0</a:t>
                      </a:r>
                    </a:p>
                  </a:txBody>
                  <a:tcPr/>
                </a:tc>
                <a:tc>
                  <a:txBody>
                    <a:bodyPr/>
                    <a:lstStyle/>
                    <a:p>
                      <a:pPr>
                        <a:defRPr sz="850">
                          <a:solidFill>
                            <a:srgbClr val="262A30"/>
                          </a:solidFill>
                        </a:defRPr>
                      </a:pPr>
                      <a:r>
                        <a:t>0.0</a:t>
                      </a:r>
                    </a:p>
                  </a:txBody>
                  <a:tcPr/>
                </a:tc>
                <a:tc>
                  <a:txBody>
                    <a:bodyPr/>
                    <a:lstStyle/>
                    <a:p>
                      <a:pPr>
                        <a:defRPr sz="850">
                          <a:solidFill>
                            <a:srgbClr val="262A30"/>
                          </a:solidFill>
                        </a:defRPr>
                      </a:pPr>
                      <a:r>
                        <a:t>0.0</a:t>
                      </a:r>
                    </a:p>
                  </a:txBody>
                  <a:tcPr/>
                </a:tc>
                <a:tc>
                  <a:txBody>
                    <a:bodyPr/>
                    <a:lstStyle/>
                    <a:p>
                      <a:pPr>
                        <a:defRPr sz="850">
                          <a:solidFill>
                            <a:srgbClr val="262A30"/>
                          </a:solidFill>
                        </a:defRPr>
                      </a:pPr>
                      <a:r>
                        <a:t>1.0</a:t>
                      </a:r>
                    </a:p>
                  </a:txBody>
                  <a:tcPr>
                    <a:solidFill>
                      <a:srgbClr val="E0F2EE"/>
                    </a:solidFill>
                  </a:tcPr>
                </a:tc>
              </a:tr>
            </a:tbl>
          </a:graphicData>
        </a:graphic>
      </p:graphicFrame>
      <p:sp>
        <p:nvSpPr>
          <p:cNvPr id="7" name="TextBox 6"/>
          <p:cNvSpPr txBox="1"/>
          <p:nvPr/>
        </p:nvSpPr>
        <p:spPr>
          <a:xfrm>
            <a:off x="777240" y="5532120"/>
            <a:ext cx="7772400" cy="228600"/>
          </a:xfrm>
          <a:prstGeom prst="rect">
            <a:avLst/>
          </a:prstGeom>
          <a:noFill/>
        </p:spPr>
        <p:txBody>
          <a:bodyPr wrap="square">
            <a:spAutoFit/>
          </a:bodyPr>
          <a:lstStyle/>
          <a:p>
            <a:pPr>
              <a:defRPr sz="1000">
                <a:solidFill>
                  <a:srgbClr val="636C76"/>
                </a:solidFill>
                <a:latin typeface="Aptos"/>
              </a:defRPr>
            </a:pPr>
            <a:r>
              <a:t>Recommended table: department-course matrix preview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11155680" cy="502920"/>
          </a:xfrm>
          <a:prstGeom prst="rect">
            <a:avLst/>
          </a:prstGeom>
          <a:noFill/>
        </p:spPr>
        <p:txBody>
          <a:bodyPr wrap="none">
            <a:spAutoFit/>
          </a:bodyPr>
          <a:lstStyle/>
          <a:p>
            <a:pPr>
              <a:defRPr sz="2400" b="1">
                <a:solidFill>
                  <a:srgbClr val="202D3F"/>
                </a:solidFill>
                <a:latin typeface="Aptos Display"/>
              </a:defRPr>
            </a:pPr>
            <a:r>
              <a:t>Method and Preliminary Result</a:t>
            </a:r>
          </a:p>
        </p:txBody>
      </p:sp>
      <p:sp>
        <p:nvSpPr>
          <p:cNvPr id="3" name="Rectangle 2"/>
          <p:cNvSpPr/>
          <p:nvPr/>
        </p:nvSpPr>
        <p:spPr>
          <a:xfrm>
            <a:off x="502920" y="804672"/>
            <a:ext cx="1051560" cy="54864"/>
          </a:xfrm>
          <a:prstGeom prst="rect">
            <a:avLst/>
          </a:prstGeom>
          <a:solidFill>
            <a:srgbClr val="278E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234440"/>
            <a:ext cx="4983480" cy="2880360"/>
          </a:xfrm>
          <a:prstGeom prst="rect">
            <a:avLst/>
          </a:prstGeom>
          <a:noFill/>
        </p:spPr>
        <p:txBody>
          <a:bodyPr wrap="square">
            <a:normAutofit/>
          </a:bodyPr>
          <a:lstStyle/>
          <a:p>
            <a:pPr>
              <a:spcAft>
                <a:spcPts val="700"/>
              </a:spcAft>
              <a:defRPr sz="1700">
                <a:solidFill>
                  <a:srgbClr val="262A30"/>
                </a:solidFill>
                <a:latin typeface="Aptos"/>
              </a:defRPr>
            </a:pPr>
            <a:r>
              <a:t>Hierarchical clustering was implemented as the first clustering method</a:t>
            </a:r>
          </a:p>
          <a:p>
            <a:pPr>
              <a:spcAft>
                <a:spcPts val="700"/>
              </a:spcAft>
              <a:defRPr sz="1700">
                <a:solidFill>
                  <a:srgbClr val="262A30"/>
                </a:solidFill>
                <a:latin typeface="Aptos"/>
              </a:defRPr>
            </a:pPr>
            <a:r>
              <a:t>Clustering is based only on course-profile similarity</a:t>
            </a:r>
          </a:p>
          <a:p>
            <a:pPr>
              <a:spcAft>
                <a:spcPts val="700"/>
              </a:spcAft>
              <a:defRPr sz="1700">
                <a:solidFill>
                  <a:srgbClr val="262A30"/>
                </a:solidFill>
                <a:latin typeface="Aptos"/>
              </a:defRPr>
            </a:pPr>
            <a:r>
              <a:t>Preliminary outputs include similarity matrix, heatmap, dendrogram, and cluster assignments</a:t>
            </a:r>
          </a:p>
          <a:p>
            <a:pPr>
              <a:spcAft>
                <a:spcPts val="700"/>
              </a:spcAft>
              <a:defRPr sz="1700">
                <a:solidFill>
                  <a:srgbClr val="262A30"/>
                </a:solidFill>
                <a:latin typeface="Aptos"/>
              </a:defRPr>
            </a:pPr>
            <a:r>
              <a:t>Results should be interpreted as exploratory, not definitive</a:t>
            </a:r>
          </a:p>
          <a:p>
            <a:pPr>
              <a:spcAft>
                <a:spcPts val="700"/>
              </a:spcAft>
              <a:defRPr sz="1700">
                <a:solidFill>
                  <a:srgbClr val="262A30"/>
                </a:solidFill>
                <a:latin typeface="Aptos"/>
              </a:defRPr>
            </a:pPr>
            <a:r>
              <a:t>Early clusters help check whether course-based patterns are interpretable</a:t>
            </a:r>
          </a:p>
        </p:txBody>
      </p:sp>
      <p:sp>
        <p:nvSpPr>
          <p:cNvPr id="5" name="TextBox 4"/>
          <p:cNvSpPr txBox="1"/>
          <p:nvPr/>
        </p:nvSpPr>
        <p:spPr>
          <a:xfrm>
            <a:off x="502920" y="6446520"/>
            <a:ext cx="11064240" cy="201168"/>
          </a:xfrm>
          <a:prstGeom prst="rect">
            <a:avLst/>
          </a:prstGeom>
          <a:noFill/>
        </p:spPr>
        <p:txBody>
          <a:bodyPr wrap="none">
            <a:spAutoFit/>
          </a:bodyPr>
          <a:lstStyle/>
          <a:p>
            <a:pPr>
              <a:defRPr sz="800">
                <a:solidFill>
                  <a:srgbClr val="636C76"/>
                </a:solidFill>
                <a:latin typeface="Aptos"/>
              </a:defRPr>
            </a:pPr>
            <a:r>
              <a:t>NOVA50301 AI Toolkit Progress Meeting | 4/5</a:t>
            </a:r>
          </a:p>
        </p:txBody>
      </p:sp>
      <p:pic>
        <p:nvPicPr>
          <p:cNvPr id="6" name="Picture 5" descr="hierarchical_dendrogram.png"/>
          <p:cNvPicPr>
            <a:picLocks noChangeAspect="1"/>
          </p:cNvPicPr>
          <p:nvPr/>
        </p:nvPicPr>
        <p:blipFill>
          <a:blip r:embed="rId3"/>
          <a:stretch>
            <a:fillRect/>
          </a:stretch>
        </p:blipFill>
        <p:spPr>
          <a:xfrm>
            <a:off x="6172200" y="1234440"/>
            <a:ext cx="5394960" cy="3840480"/>
          </a:xfrm>
          <a:prstGeom prst="rect">
            <a:avLst/>
          </a:prstGeom>
        </p:spPr>
      </p:pic>
      <p:sp>
        <p:nvSpPr>
          <p:cNvPr id="7" name="TextBox 6"/>
          <p:cNvSpPr txBox="1"/>
          <p:nvPr/>
        </p:nvSpPr>
        <p:spPr>
          <a:xfrm>
            <a:off x="6172200" y="5212080"/>
            <a:ext cx="5120640" cy="292608"/>
          </a:xfrm>
          <a:prstGeom prst="rect">
            <a:avLst/>
          </a:prstGeom>
          <a:noFill/>
        </p:spPr>
        <p:txBody>
          <a:bodyPr wrap="square">
            <a:spAutoFit/>
          </a:bodyPr>
          <a:lstStyle/>
          <a:p>
            <a:pPr>
              <a:defRPr sz="1000">
                <a:solidFill>
                  <a:srgbClr val="636C76"/>
                </a:solidFill>
                <a:latin typeface="Aptos"/>
              </a:defRPr>
            </a:pPr>
            <a:r>
              <a:t>Recommended figure: hierarchical_dendrogram.png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28600"/>
            <a:ext cx="11155680" cy="502920"/>
          </a:xfrm>
          <a:prstGeom prst="rect">
            <a:avLst/>
          </a:prstGeom>
          <a:noFill/>
        </p:spPr>
        <p:txBody>
          <a:bodyPr wrap="none">
            <a:spAutoFit/>
          </a:bodyPr>
          <a:lstStyle/>
          <a:p>
            <a:pPr>
              <a:defRPr sz="2400" b="1">
                <a:solidFill>
                  <a:srgbClr val="202D3F"/>
                </a:solidFill>
                <a:latin typeface="Aptos Display"/>
              </a:defRPr>
            </a:pPr>
            <a:r>
              <a:t>Next Steps</a:t>
            </a:r>
          </a:p>
        </p:txBody>
      </p:sp>
      <p:sp>
        <p:nvSpPr>
          <p:cNvPr id="3" name="Rectangle 2"/>
          <p:cNvSpPr/>
          <p:nvPr/>
        </p:nvSpPr>
        <p:spPr>
          <a:xfrm>
            <a:off x="502920" y="804672"/>
            <a:ext cx="1051560" cy="54864"/>
          </a:xfrm>
          <a:prstGeom prst="rect">
            <a:avLst/>
          </a:prstGeom>
          <a:solidFill>
            <a:srgbClr val="278E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234440"/>
            <a:ext cx="4983480" cy="2880360"/>
          </a:xfrm>
          <a:prstGeom prst="rect">
            <a:avLst/>
          </a:prstGeom>
          <a:noFill/>
        </p:spPr>
        <p:txBody>
          <a:bodyPr wrap="square">
            <a:normAutofit/>
          </a:bodyPr>
          <a:lstStyle/>
          <a:p>
            <a:pPr>
              <a:spcAft>
                <a:spcPts val="700"/>
              </a:spcAft>
              <a:defRPr sz="1700">
                <a:solidFill>
                  <a:srgbClr val="262A30"/>
                </a:solidFill>
                <a:latin typeface="Aptos"/>
              </a:defRPr>
            </a:pPr>
            <a:r>
              <a:t>Compare hierarchical clustering with k-means clustering</a:t>
            </a:r>
          </a:p>
          <a:p>
            <a:pPr>
              <a:spcAft>
                <a:spcPts val="700"/>
              </a:spcAft>
              <a:defRPr sz="1700">
                <a:solidFill>
                  <a:srgbClr val="262A30"/>
                </a:solidFill>
                <a:latin typeface="Aptos"/>
              </a:defRPr>
            </a:pPr>
            <a:r>
              <a:t>Conduct sensitivity analysis using binary course vectors</a:t>
            </a:r>
          </a:p>
          <a:p>
            <a:pPr>
              <a:spcAft>
                <a:spcPts val="700"/>
              </a:spcAft>
              <a:defRPr sz="1700">
                <a:solidFill>
                  <a:srgbClr val="262A30"/>
                </a:solidFill>
                <a:latin typeface="Aptos"/>
              </a:defRPr>
            </a:pPr>
            <a:r>
              <a:t>Refine interpretation of cluster characteristics</a:t>
            </a:r>
          </a:p>
          <a:p>
            <a:pPr>
              <a:spcAft>
                <a:spcPts val="700"/>
              </a:spcAft>
              <a:defRPr sz="1700">
                <a:solidFill>
                  <a:srgbClr val="262A30"/>
                </a:solidFill>
                <a:latin typeface="Aptos"/>
              </a:defRPr>
            </a:pPr>
            <a:r>
              <a:t>Optionally compare data-driven clusters with expert-based grouping</a:t>
            </a:r>
          </a:p>
          <a:p>
            <a:pPr>
              <a:spcAft>
                <a:spcPts val="700"/>
              </a:spcAft>
              <a:defRPr sz="1700">
                <a:solidFill>
                  <a:srgbClr val="262A30"/>
                </a:solidFill>
                <a:latin typeface="Aptos"/>
              </a:defRPr>
            </a:pPr>
            <a:r>
              <a:t>Position expert consensus and admission feasibility as future work</a:t>
            </a:r>
          </a:p>
        </p:txBody>
      </p:sp>
      <p:sp>
        <p:nvSpPr>
          <p:cNvPr id="5" name="TextBox 4"/>
          <p:cNvSpPr txBox="1"/>
          <p:nvPr/>
        </p:nvSpPr>
        <p:spPr>
          <a:xfrm>
            <a:off x="502920" y="6446520"/>
            <a:ext cx="11064240" cy="201168"/>
          </a:xfrm>
          <a:prstGeom prst="rect">
            <a:avLst/>
          </a:prstGeom>
          <a:noFill/>
        </p:spPr>
        <p:txBody>
          <a:bodyPr wrap="none">
            <a:spAutoFit/>
          </a:bodyPr>
          <a:lstStyle/>
          <a:p>
            <a:pPr>
              <a:defRPr sz="800">
                <a:solidFill>
                  <a:srgbClr val="636C76"/>
                </a:solidFill>
                <a:latin typeface="Aptos"/>
              </a:defRPr>
            </a:pPr>
            <a:r>
              <a:t>NOVA50301 AI Toolkit Progress Meeting | 5/5</a:t>
            </a:r>
          </a:p>
        </p:txBody>
      </p:sp>
      <p:graphicFrame>
        <p:nvGraphicFramePr>
          <p:cNvPr id="6" name="Table 5"/>
          <p:cNvGraphicFramePr>
            <a:graphicFrameLocks noGrp="1"/>
          </p:cNvGraphicFramePr>
          <p:nvPr/>
        </p:nvGraphicFramePr>
        <p:xfrm>
          <a:off x="777240" y="3703320"/>
          <a:ext cx="10607040" cy="1783080"/>
        </p:xfrm>
        <a:graphic>
          <a:graphicData uri="http://schemas.openxmlformats.org/drawingml/2006/table">
            <a:tbl>
              <a:tblPr firstRow="1" bandRow="1">
                <a:tableStyleId>{5C22544A-7EE6-4342-B048-85BDC9FD1C3A}</a:tableStyleId>
              </a:tblPr>
              <a:tblGrid>
                <a:gridCol w="3535680"/>
                <a:gridCol w="3535680"/>
                <a:gridCol w="3535680"/>
              </a:tblGrid>
              <a:tr h="356616">
                <a:tc>
                  <a:txBody>
                    <a:bodyPr/>
                    <a:lstStyle/>
                    <a:p>
                      <a:pPr>
                        <a:defRPr b="1" sz="1000">
                          <a:solidFill>
                            <a:srgbClr val="FFFFFF"/>
                          </a:solidFill>
                        </a:defRPr>
                      </a:pPr>
                      <a:r>
                        <a:t>Stage</a:t>
                      </a:r>
                    </a:p>
                  </a:txBody>
                  <a:tcPr>
                    <a:solidFill>
                      <a:srgbClr val="202D3F"/>
                    </a:solidFill>
                  </a:tcPr>
                </a:tc>
                <a:tc>
                  <a:txBody>
                    <a:bodyPr/>
                    <a:lstStyle/>
                    <a:p>
                      <a:pPr>
                        <a:defRPr b="1" sz="1000">
                          <a:solidFill>
                            <a:srgbClr val="FFFFFF"/>
                          </a:solidFill>
                        </a:defRPr>
                      </a:pPr>
                      <a:r>
                        <a:t>Task</a:t>
                      </a:r>
                    </a:p>
                  </a:txBody>
                  <a:tcPr>
                    <a:solidFill>
                      <a:srgbClr val="202D3F"/>
                    </a:solidFill>
                  </a:tcPr>
                </a:tc>
                <a:tc>
                  <a:txBody>
                    <a:bodyPr/>
                    <a:lstStyle/>
                    <a:p>
                      <a:pPr>
                        <a:defRPr b="1" sz="1000">
                          <a:solidFill>
                            <a:srgbClr val="FFFFFF"/>
                          </a:solidFill>
                        </a:defRPr>
                      </a:pPr>
                      <a:r>
                        <a:t>Purpose</a:t>
                      </a:r>
                    </a:p>
                  </a:txBody>
                  <a:tcPr>
                    <a:solidFill>
                      <a:srgbClr val="202D3F"/>
                    </a:solidFill>
                  </a:tcPr>
                </a:tc>
              </a:tr>
              <a:tr h="356616">
                <a:tc>
                  <a:txBody>
                    <a:bodyPr/>
                    <a:lstStyle/>
                    <a:p>
                      <a:pPr>
                        <a:defRPr sz="900">
                          <a:solidFill>
                            <a:srgbClr val="262A30"/>
                          </a:solidFill>
                        </a:defRPr>
                      </a:pPr>
                      <a:r>
                        <a:t>Current</a:t>
                      </a:r>
                    </a:p>
                  </a:txBody>
                  <a:tcPr/>
                </a:tc>
                <a:tc>
                  <a:txBody>
                    <a:bodyPr/>
                    <a:lstStyle/>
                    <a:p>
                      <a:pPr>
                        <a:defRPr sz="900">
                          <a:solidFill>
                            <a:srgbClr val="262A30"/>
                          </a:solidFill>
                        </a:defRPr>
                      </a:pPr>
                      <a:r>
                        <a:t>Hierarchical clustering</a:t>
                      </a:r>
                    </a:p>
                  </a:txBody>
                  <a:tcPr/>
                </a:tc>
                <a:tc>
                  <a:txBody>
                    <a:bodyPr/>
                    <a:lstStyle/>
                    <a:p>
                      <a:pPr>
                        <a:defRPr sz="900">
                          <a:solidFill>
                            <a:srgbClr val="262A30"/>
                          </a:solidFill>
                        </a:defRPr>
                      </a:pPr>
                      <a:r>
                        <a:t>Initial exploratory grouping</a:t>
                      </a:r>
                    </a:p>
                  </a:txBody>
                  <a:tcPr/>
                </a:tc>
              </a:tr>
              <a:tr h="356616">
                <a:tc>
                  <a:txBody>
                    <a:bodyPr/>
                    <a:lstStyle/>
                    <a:p>
                      <a:pPr>
                        <a:defRPr sz="900">
                          <a:solidFill>
                            <a:srgbClr val="262A30"/>
                          </a:solidFill>
                        </a:defRPr>
                      </a:pPr>
                      <a:r>
                        <a:t>Next</a:t>
                      </a:r>
                    </a:p>
                  </a:txBody>
                  <a:tcPr/>
                </a:tc>
                <a:tc>
                  <a:txBody>
                    <a:bodyPr/>
                    <a:lstStyle/>
                    <a:p>
                      <a:pPr>
                        <a:defRPr sz="900">
                          <a:solidFill>
                            <a:srgbClr val="262A30"/>
                          </a:solidFill>
                        </a:defRPr>
                      </a:pPr>
                      <a:r>
                        <a:t>K-means comparison</a:t>
                      </a:r>
                    </a:p>
                  </a:txBody>
                  <a:tcPr/>
                </a:tc>
                <a:tc>
                  <a:txBody>
                    <a:bodyPr/>
                    <a:lstStyle/>
                    <a:p>
                      <a:pPr>
                        <a:defRPr sz="900">
                          <a:solidFill>
                            <a:srgbClr val="262A30"/>
                          </a:solidFill>
                        </a:defRPr>
                      </a:pPr>
                      <a:r>
                        <a:t>Check method stability</a:t>
                      </a:r>
                    </a:p>
                  </a:txBody>
                  <a:tcPr/>
                </a:tc>
              </a:tr>
              <a:tr h="356616">
                <a:tc>
                  <a:txBody>
                    <a:bodyPr/>
                    <a:lstStyle/>
                    <a:p>
                      <a:pPr>
                        <a:defRPr sz="900">
                          <a:solidFill>
                            <a:srgbClr val="262A30"/>
                          </a:solidFill>
                        </a:defRPr>
                      </a:pPr>
                      <a:r>
                        <a:t>Next</a:t>
                      </a:r>
                    </a:p>
                  </a:txBody>
                  <a:tcPr/>
                </a:tc>
                <a:tc>
                  <a:txBody>
                    <a:bodyPr/>
                    <a:lstStyle/>
                    <a:p>
                      <a:pPr>
                        <a:defRPr sz="900">
                          <a:solidFill>
                            <a:srgbClr val="262A30"/>
                          </a:solidFill>
                        </a:defRPr>
                      </a:pPr>
                      <a:r>
                        <a:t>Binary-vector sensitivity</a:t>
                      </a:r>
                    </a:p>
                  </a:txBody>
                  <a:tcPr/>
                </a:tc>
                <a:tc>
                  <a:txBody>
                    <a:bodyPr/>
                    <a:lstStyle/>
                    <a:p>
                      <a:pPr>
                        <a:defRPr sz="900">
                          <a:solidFill>
                            <a:srgbClr val="262A30"/>
                          </a:solidFill>
                        </a:defRPr>
                      </a:pPr>
                      <a:r>
                        <a:t>Test value-coding sensitivity</a:t>
                      </a:r>
                    </a:p>
                  </a:txBody>
                  <a:tcPr/>
                </a:tc>
              </a:tr>
              <a:tr h="356616">
                <a:tc>
                  <a:txBody>
                    <a:bodyPr/>
                    <a:lstStyle/>
                    <a:p>
                      <a:pPr>
                        <a:defRPr sz="900">
                          <a:solidFill>
                            <a:srgbClr val="262A30"/>
                          </a:solidFill>
                        </a:defRPr>
                      </a:pPr>
                      <a:r>
                        <a:t>Optional</a:t>
                      </a:r>
                    </a:p>
                  </a:txBody>
                  <a:tcPr/>
                </a:tc>
                <a:tc>
                  <a:txBody>
                    <a:bodyPr/>
                    <a:lstStyle/>
                    <a:p>
                      <a:pPr>
                        <a:defRPr sz="900">
                          <a:solidFill>
                            <a:srgbClr val="262A30"/>
                          </a:solidFill>
                        </a:defRPr>
                      </a:pPr>
                      <a:r>
                        <a:t>Expert-based comparison</a:t>
                      </a:r>
                    </a:p>
                  </a:txBody>
                  <a:tcPr/>
                </a:tc>
                <a:tc>
                  <a:txBody>
                    <a:bodyPr/>
                    <a:lstStyle/>
                    <a:p>
                      <a:pPr>
                        <a:defRPr sz="900">
                          <a:solidFill>
                            <a:srgbClr val="262A30"/>
                          </a:solidFill>
                        </a:defRPr>
                      </a:pPr>
                      <a:r>
                        <a:t>Validate interpretability</a:t>
                      </a:r>
                    </a:p>
                  </a:txBody>
                  <a:tcPr/>
                </a:tc>
              </a:tr>
            </a:tbl>
          </a:graphicData>
        </a:graphic>
      </p:graphicFrame>
      <p:sp>
        <p:nvSpPr>
          <p:cNvPr id="7" name="TextBox 6"/>
          <p:cNvSpPr txBox="1"/>
          <p:nvPr/>
        </p:nvSpPr>
        <p:spPr>
          <a:xfrm>
            <a:off x="777240" y="5596128"/>
            <a:ext cx="7772400" cy="228600"/>
          </a:xfrm>
          <a:prstGeom prst="rect">
            <a:avLst/>
          </a:prstGeom>
          <a:noFill/>
        </p:spPr>
        <p:txBody>
          <a:bodyPr wrap="square">
            <a:spAutoFit/>
          </a:bodyPr>
          <a:lstStyle/>
          <a:p>
            <a:pPr>
              <a:defRPr sz="1000">
                <a:solidFill>
                  <a:srgbClr val="636C76"/>
                </a:solidFill>
                <a:latin typeface="Aptos"/>
              </a:defRPr>
            </a:pPr>
            <a:r>
              <a:t>Recommended table: final-project analysis roadmap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