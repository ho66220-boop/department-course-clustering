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첫 장에서는 추천 시스템이 아니라 탐색적 군집화 연구라는 점을 먼저 고정한다.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표본은 대표성이 아니라 비교 가능성과 해석 가능성을 위해 고른 목적 표본이다.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dendrogram은 hard clustering보다 학과 간 가까움과 멀어짐을 설명하는 보조 도구로 사용한다.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예비 결과는 예쁘게 잘린 군집보다 boundary case와 local similarity를 보여주는 데 의미가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장에서는 범위 확장을 막고 final report에서 할 일만 보수적으로 제시한다.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B3D"/>
                </a:solidFill>
                <a:latin typeface="Aptos Display"/>
              </a:defRPr>
            </a:pPr>
            <a:r>
              <a:t>권장과목 기반 학과 군집화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85800"/>
            <a:ext cx="8961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16A74"/>
                </a:solidFill>
                <a:latin typeface="Aptos"/>
              </a:defRPr>
            </a:pPr>
            <a:r>
              <a:t>입시 상담 지원을 위한 탐색적 분석 · Progress Update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98480" y="292608"/>
            <a:ext cx="960120" cy="347472"/>
          </a:xfrm>
          <a:prstGeom prst="roundRect">
            <a:avLst/>
          </a:prstGeom>
          <a:solidFill>
            <a:srgbClr val="1F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16A74"/>
                </a:solidFill>
                <a:latin typeface="Aptos"/>
              </a:defRPr>
            </a:pPr>
            <a:r>
              <a:t>NOVA50301 AI Toolkit · Progress Meeting · 1/5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960120" cy="292608"/>
          </a:xfrm>
          <a:prstGeom prst="roundRect">
            <a:avLst/>
          </a:prstGeom>
          <a:solidFill>
            <a:srgbClr val="20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핵심 질문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27632"/>
            <a:ext cx="5074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F2B3D"/>
                </a:solidFill>
                <a:latin typeface="Aptos"/>
              </a:defRPr>
            </a:pPr>
            <a:r>
              <a:t>Research Question</a:t>
            </a:r>
          </a:p>
          <a:p>
            <a:pPr>
              <a:defRPr sz="1000">
                <a:solidFill>
                  <a:srgbClr val="272B32"/>
                </a:solidFill>
                <a:latin typeface="Aptos"/>
              </a:defRPr>
            </a:pPr>
            <a:r>
              <a:t>권장과목 profile이 학과들을 해석 가능한 방식으로 군집화할 수 있는가?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234440"/>
            <a:ext cx="777240" cy="292608"/>
          </a:xfrm>
          <a:prstGeom prst="roundRect">
            <a:avLst/>
          </a:prstGeom>
          <a:solidFill>
            <a:srgbClr val="1F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Scope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627632"/>
            <a:ext cx="5440680" cy="1051560"/>
          </a:xfrm>
          <a:prstGeom prst="roundRect">
            <a:avLst/>
          </a:prstGeom>
          <a:solidFill>
            <a:srgbClr val="F4F6F8"/>
          </a:solidFill>
          <a:ln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F2B3D"/>
                </a:solidFill>
                <a:latin typeface="Aptos"/>
              </a:defRPr>
            </a:pPr>
            <a:r>
              <a:t>Progress-stage scope</a:t>
            </a:r>
          </a:p>
          <a:p>
            <a:pPr>
              <a:defRPr sz="1000">
                <a:solidFill>
                  <a:srgbClr val="272B32"/>
                </a:solidFill>
                <a:latin typeface="Aptos"/>
              </a:defRPr>
            </a:pPr>
            <a:r>
              <a:t>탐색적 군집화 연구 (학과 추천 시스템 X)</a:t>
            </a:r>
            <a:br/>
            <a:r>
              <a:t>25개 학과 목적 표본 · binary vector · hierarchical clustering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251960"/>
            <a:ext cx="868680" cy="292608"/>
          </a:xfrm>
          <a:prstGeom prst="roundRect">
            <a:avLst/>
          </a:prstGeom>
          <a:solidFill>
            <a:srgbClr val="D69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Pipeline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4709160"/>
            <a:ext cx="1965960" cy="804672"/>
          </a:xfrm>
          <a:prstGeom prst="roundRect">
            <a:avLst/>
          </a:prstGeom>
          <a:solidFill>
            <a:srgbClr val="20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학과 선정</a:t>
            </a:r>
          </a:p>
          <a:p>
            <a:pPr>
              <a:defRPr sz="850">
                <a:solidFill>
                  <a:srgbClr val="FFFFFF"/>
                </a:solidFill>
                <a:latin typeface="Aptos"/>
              </a:defRPr>
            </a:pPr>
            <a:r>
              <a:t>25개 목적 표본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624328" y="4965192"/>
            <a:ext cx="310896" cy="256032"/>
          </a:xfrm>
          <a:prstGeom prst="rightArrow">
            <a:avLst/>
          </a:prstGeom>
          <a:solidFill>
            <a:srgbClr val="D6D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98648" y="4709160"/>
            <a:ext cx="1965960" cy="804672"/>
          </a:xfrm>
          <a:prstGeom prst="roundRect">
            <a:avLst/>
          </a:prstGeom>
          <a:solidFill>
            <a:srgbClr val="53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데이터 구성</a:t>
            </a:r>
          </a:p>
          <a:p>
            <a:pPr>
              <a:defRPr sz="850">
                <a:solidFill>
                  <a:srgbClr val="FFFFFF"/>
                </a:solidFill>
                <a:latin typeface="Aptos"/>
              </a:defRPr>
            </a:pPr>
            <a:r>
              <a:t>학과×과목 binary matrix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928616" y="4965192"/>
            <a:ext cx="310896" cy="256032"/>
          </a:xfrm>
          <a:prstGeom prst="rightArrow">
            <a:avLst/>
          </a:prstGeom>
          <a:solidFill>
            <a:srgbClr val="D6D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202936" y="4709160"/>
            <a:ext cx="1965960" cy="804672"/>
          </a:xfrm>
          <a:prstGeom prst="roundRect">
            <a:avLst/>
          </a:prstGeom>
          <a:solidFill>
            <a:srgbClr val="D69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유사도 계산</a:t>
            </a:r>
          </a:p>
          <a:p>
            <a:pPr>
              <a:defRPr sz="850">
                <a:solidFill>
                  <a:srgbClr val="FFFFFF"/>
                </a:solidFill>
                <a:latin typeface="Aptos"/>
              </a:defRPr>
            </a:pPr>
            <a:r>
              <a:t>Cosine similarity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232904" y="4965192"/>
            <a:ext cx="310896" cy="256032"/>
          </a:xfrm>
          <a:prstGeom prst="rightArrow">
            <a:avLst/>
          </a:prstGeom>
          <a:solidFill>
            <a:srgbClr val="D6D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507223" y="4709160"/>
            <a:ext cx="1965960" cy="804672"/>
          </a:xfrm>
          <a:prstGeom prst="roundRect">
            <a:avLst/>
          </a:prstGeom>
          <a:solidFill>
            <a:srgbClr val="914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군집화</a:t>
            </a:r>
          </a:p>
          <a:p>
            <a:pPr>
              <a:defRPr sz="850">
                <a:solidFill>
                  <a:srgbClr val="FFFFFF"/>
                </a:solidFill>
                <a:latin typeface="Aptos"/>
              </a:defRPr>
            </a:pPr>
            <a:r>
              <a:t>Hierarchical clustering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537192" y="4965192"/>
            <a:ext cx="310896" cy="256032"/>
          </a:xfrm>
          <a:prstGeom prst="rightArrow">
            <a:avLst/>
          </a:prstGeom>
          <a:solidFill>
            <a:srgbClr val="D6D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811511" y="4709160"/>
            <a:ext cx="1965960" cy="804672"/>
          </a:xfrm>
          <a:prstGeom prst="roundRect">
            <a:avLst/>
          </a:prstGeom>
          <a:solidFill>
            <a:srgbClr val="1F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해석</a:t>
            </a:r>
          </a:p>
          <a:p>
            <a:pPr>
              <a:defRPr sz="850">
                <a:solidFill>
                  <a:srgbClr val="FFFFFF"/>
                </a:solidFill>
                <a:latin typeface="Aptos"/>
              </a:defRPr>
            </a:pPr>
            <a:r>
              <a:t>상담 지원용 예비 근거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B3D"/>
                </a:solidFill>
                <a:latin typeface="Aptos Display"/>
              </a:defRPr>
            </a:pPr>
            <a:r>
              <a:t>데이터와 표본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85800"/>
            <a:ext cx="8961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16A74"/>
                </a:solidFill>
                <a:latin typeface="Aptos"/>
              </a:defRPr>
            </a:pPr>
            <a:r>
              <a:t>25개 학과 · 학과×과목 행렬 · binary 인코딩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98480" y="292608"/>
            <a:ext cx="960120" cy="347472"/>
          </a:xfrm>
          <a:prstGeom prst="roundRect">
            <a:avLst/>
          </a:prstGeom>
          <a:solidFill>
            <a:srgbClr val="1F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16A74"/>
                </a:solidFill>
                <a:latin typeface="Aptos"/>
              </a:defRPr>
            </a:pPr>
            <a:r>
              <a:t>NOVA50301 AI Toolkit · Progress Meeting · 2/5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170432"/>
            <a:ext cx="1737360" cy="292608"/>
          </a:xfrm>
          <a:prstGeom prst="roundRect">
            <a:avLst/>
          </a:prstGeom>
          <a:solidFill>
            <a:srgbClr val="20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학과 × 권장과목 행렬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5394960" cy="1417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72B32"/>
                </a:solidFill>
                <a:latin typeface="Aptos"/>
              </a:defRPr>
            </a:pPr>
            <a:r>
              <a:t>원자료: 학과 과목 선택 가이드.xlsx</a:t>
            </a:r>
          </a:p>
          <a:p>
            <a:pPr>
              <a:spcAft>
                <a:spcPts val="500"/>
              </a:spcAft>
              <a:defRPr sz="1200">
                <a:solidFill>
                  <a:srgbClr val="272B32"/>
                </a:solidFill>
                <a:latin typeface="Aptos"/>
              </a:defRPr>
            </a:pPr>
            <a:r>
              <a:t>A열 학과명 · B-D열 일반선택/진로선택/융합선택</a:t>
            </a:r>
          </a:p>
          <a:p>
            <a:pPr>
              <a:spcAft>
                <a:spcPts val="500"/>
              </a:spcAft>
              <a:defRPr sz="1200">
                <a:solidFill>
                  <a:srgbClr val="272B32"/>
                </a:solidFill>
                <a:latin typeface="Aptos"/>
              </a:defRPr>
            </a:pPr>
            <a:r>
              <a:t>1 = 가이드에 제시됨 · 0 = 제시되지 않음</a:t>
            </a:r>
          </a:p>
          <a:p>
            <a:pPr>
              <a:spcAft>
                <a:spcPts val="500"/>
              </a:spcAft>
              <a:defRPr sz="1200">
                <a:solidFill>
                  <a:srgbClr val="272B32"/>
                </a:solidFill>
                <a:latin typeface="Aptos"/>
              </a:defRPr>
            </a:pPr>
            <a:r>
              <a:t>metadata columns는 clustering feature에서 제외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3429000"/>
          <a:ext cx="571500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822960"/>
                <a:gridCol w="822960"/>
                <a:gridCol w="822960"/>
                <a:gridCol w="868680"/>
                <a:gridCol w="777240"/>
              </a:tblGrid>
              <a:tr h="347472"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department</a:t>
                      </a:r>
                    </a:p>
                  </a:txBody>
                  <a:tcPr>
                    <a:solidFill>
                      <a:srgbClr val="1F2B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미적분Ⅰ</a:t>
                      </a:r>
                    </a:p>
                  </a:txBody>
                  <a:tcPr>
                    <a:solidFill>
                      <a:srgbClr val="1F2B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물리학</a:t>
                      </a:r>
                    </a:p>
                  </a:txBody>
                  <a:tcPr>
                    <a:solidFill>
                      <a:srgbClr val="1F2B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화학</a:t>
                      </a:r>
                    </a:p>
                  </a:txBody>
                  <a:tcPr>
                    <a:solidFill>
                      <a:srgbClr val="1F2B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생명과학</a:t>
                      </a:r>
                    </a:p>
                  </a:txBody>
                  <a:tcPr>
                    <a:solidFill>
                      <a:srgbClr val="1F2B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경제</a:t>
                      </a:r>
                    </a:p>
                  </a:txBody>
                  <a:tcPr>
                    <a:solidFill>
                      <a:srgbClr val="1F2B3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272B32"/>
                          </a:solidFill>
                          <a:latin typeface="Aptos"/>
                        </a:defRPr>
                      </a:pPr>
                      <a:r>
                        <a:t>기계공학과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272B32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0F2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272B32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0F2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272B32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0F2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272B32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0F2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272B32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272B32"/>
                          </a:solidFill>
                          <a:latin typeface="Aptos"/>
                        </a:defRPr>
                      </a:pPr>
                      <a:r>
                        <a:t>자동차공학과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272B32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0F2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272B32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0F2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272B32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0F2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272B32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272B32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272B32"/>
                          </a:solidFill>
                          <a:latin typeface="Aptos"/>
                        </a:defRPr>
                      </a:pPr>
                      <a:r>
                        <a:t>경제학과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272B32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0F2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272B32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272B32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272B32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272B32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0F2EE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720840" y="1170432"/>
            <a:ext cx="1600200" cy="292608"/>
          </a:xfrm>
          <a:prstGeom prst="roundRect">
            <a:avLst/>
          </a:prstGeom>
          <a:solidFill>
            <a:srgbClr val="1F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25개 학과 선정 근거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627632"/>
            <a:ext cx="4480560" cy="658368"/>
          </a:xfrm>
          <a:prstGeom prst="roundRect">
            <a:avLst/>
          </a:prstGeom>
          <a:solidFill>
            <a:srgbClr val="E0F2EE"/>
          </a:solidFill>
          <a:ln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F2B3D"/>
                </a:solidFill>
                <a:latin typeface="Aptos"/>
              </a:defRPr>
            </a:pPr>
            <a:r>
              <a:t>목적 표본</a:t>
            </a:r>
          </a:p>
          <a:p>
            <a:pPr>
              <a:defRPr sz="1000">
                <a:solidFill>
                  <a:srgbClr val="272B32"/>
                </a:solidFill>
                <a:latin typeface="Aptos"/>
              </a:defRPr>
            </a:pPr>
            <a:r>
              <a:t>통계적 대표 표본이 아니라 exploratory purposive sample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2450592"/>
            <a:ext cx="4480560" cy="658368"/>
          </a:xfrm>
          <a:prstGeom prst="roundRect">
            <a:avLst/>
          </a:prstGeom>
          <a:solidFill>
            <a:srgbClr val="F4F6F8"/>
          </a:solidFill>
          <a:ln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F2B3D"/>
                </a:solidFill>
                <a:latin typeface="Aptos"/>
              </a:defRPr>
            </a:pPr>
            <a:r>
              <a:t>권장과목 다양성</a:t>
            </a:r>
          </a:p>
          <a:p>
            <a:pPr>
              <a:defRPr sz="1000">
                <a:solidFill>
                  <a:srgbClr val="272B32"/>
                </a:solidFill>
                <a:latin typeface="Aptos"/>
              </a:defRPr>
            </a:pPr>
            <a:r>
              <a:t>인문, 사회, 공학, 자연, 의약/보건, 디자인을 함께 포함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3273552"/>
            <a:ext cx="4480560" cy="658368"/>
          </a:xfrm>
          <a:prstGeom prst="roundRect">
            <a:avLst/>
          </a:prstGeom>
          <a:solidFill>
            <a:srgbClr val="F9EFDC"/>
          </a:solidFill>
          <a:ln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F2B3D"/>
                </a:solidFill>
                <a:latin typeface="Aptos"/>
              </a:defRPr>
            </a:pPr>
            <a:r>
              <a:t>울산 산업 boundary case</a:t>
            </a:r>
          </a:p>
          <a:p>
            <a:pPr>
              <a:defRPr sz="1000">
                <a:solidFill>
                  <a:srgbClr val="272B32"/>
                </a:solidFill>
                <a:latin typeface="Aptos"/>
              </a:defRPr>
            </a:pPr>
            <a:r>
              <a:t>조선해양공학과와 자동차공학과를 applied engineering case로 포함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4096512"/>
            <a:ext cx="4480560" cy="658368"/>
          </a:xfrm>
          <a:prstGeom prst="roundRect">
            <a:avLst/>
          </a:prstGeom>
          <a:solidFill>
            <a:srgbClr val="F4F6F8"/>
          </a:solidFill>
          <a:ln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F2B3D"/>
                </a:solidFill>
                <a:latin typeface="Aptos"/>
              </a:defRPr>
            </a:pPr>
            <a:r>
              <a:t>해석 가능성</a:t>
            </a:r>
          </a:p>
          <a:p>
            <a:pPr>
              <a:defRPr sz="1000">
                <a:solidFill>
                  <a:srgbClr val="272B32"/>
                </a:solidFill>
                <a:latin typeface="Aptos"/>
              </a:defRPr>
            </a:pPr>
            <a:r>
              <a:t>25개 규모로 heatmap과 dendrogram을 직접 해석 가능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B3D"/>
                </a:solidFill>
                <a:latin typeface="Aptos Display"/>
              </a:defRPr>
            </a:pPr>
            <a:r>
              <a:t>방법과 군집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85800"/>
            <a:ext cx="8961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16A74"/>
                </a:solidFill>
                <a:latin typeface="Aptos"/>
              </a:defRPr>
            </a:pPr>
            <a:r>
              <a:t>Cosine similarity + Hierarchical clustering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98480" y="292608"/>
            <a:ext cx="960120" cy="347472"/>
          </a:xfrm>
          <a:prstGeom prst="roundRect">
            <a:avLst/>
          </a:prstGeom>
          <a:solidFill>
            <a:srgbClr val="1F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16A74"/>
                </a:solidFill>
                <a:latin typeface="Aptos"/>
              </a:defRPr>
            </a:pPr>
            <a:r>
              <a:t>NOVA50301 AI Toolkit · Progress Meeting · 3/5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15568"/>
            <a:ext cx="1325880" cy="292608"/>
          </a:xfrm>
          <a:prstGeom prst="roundRect">
            <a:avLst/>
          </a:prstGeom>
          <a:solidFill>
            <a:srgbClr val="20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방법 선택 근거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36192"/>
            <a:ext cx="4709160" cy="758952"/>
          </a:xfrm>
          <a:prstGeom prst="roundRect">
            <a:avLst/>
          </a:prstGeom>
          <a:solidFill>
            <a:srgbClr val="F4F6F8"/>
          </a:solidFill>
          <a:ln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F2B3D"/>
                </a:solidFill>
                <a:latin typeface="Aptos"/>
              </a:defRPr>
            </a:pPr>
            <a:r>
              <a:t>Cosine similarity</a:t>
            </a:r>
          </a:p>
          <a:p>
            <a:pPr>
              <a:defRPr sz="1000">
                <a:solidFill>
                  <a:srgbClr val="272B32"/>
                </a:solidFill>
                <a:latin typeface="Aptos"/>
              </a:defRPr>
            </a:pPr>
            <a:r>
              <a:t>학과별 과목 수 차이가 있으므로 magnitude보다 course composition을 비교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450592"/>
            <a:ext cx="4709160" cy="758952"/>
          </a:xfrm>
          <a:prstGeom prst="roundRect">
            <a:avLst/>
          </a:prstGeom>
          <a:solidFill>
            <a:srgbClr val="F4F6F8"/>
          </a:solidFill>
          <a:ln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F2B3D"/>
                </a:solidFill>
                <a:latin typeface="Aptos"/>
              </a:defRPr>
            </a:pPr>
            <a:r>
              <a:t>Hierarchical clustering</a:t>
            </a:r>
          </a:p>
          <a:p>
            <a:pPr>
              <a:defRPr sz="1000">
                <a:solidFill>
                  <a:srgbClr val="272B32"/>
                </a:solidFill>
                <a:latin typeface="Aptos"/>
              </a:defRPr>
            </a:pPr>
            <a:r>
              <a:t>n=25 소표본에서 dendrogram으로 구조를 직접 확인하기 적합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364992"/>
            <a:ext cx="4709160" cy="758952"/>
          </a:xfrm>
          <a:prstGeom prst="roundRect">
            <a:avLst/>
          </a:prstGeom>
          <a:solidFill>
            <a:srgbClr val="E0F2EE"/>
          </a:solidFill>
          <a:ln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F2B3D"/>
                </a:solidFill>
                <a:latin typeface="Aptos"/>
              </a:defRPr>
            </a:pPr>
            <a:r>
              <a:t>Feature rule</a:t>
            </a:r>
          </a:p>
          <a:p>
            <a:pPr>
              <a:defRPr sz="1000">
                <a:solidFill>
                  <a:srgbClr val="272B32"/>
                </a:solidFill>
                <a:latin typeface="Aptos"/>
              </a:defRPr>
            </a:pPr>
            <a:r>
              <a:t>course columns만 사용하고 department_id/name/broad_field는 제외</a:t>
            </a:r>
          </a:p>
        </p:txBody>
      </p:sp>
      <p:pic>
        <p:nvPicPr>
          <p:cNvPr id="10" name="Picture 9" descr="hierarchical_dendr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234440"/>
            <a:ext cx="5897880" cy="37947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0" y="5074920"/>
            <a:ext cx="5897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16A74"/>
                </a:solidFill>
                <a:latin typeface="Aptos"/>
              </a:defRPr>
            </a:pPr>
            <a:r>
              <a:t>Figure 1 · Dendrogram (Average linkage, Cosine distance)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0" y="5349240"/>
            <a:ext cx="58978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F2B3D"/>
                </a:solidFill>
                <a:latin typeface="Aptos"/>
              </a:defRPr>
            </a:pPr>
            <a:r>
              <a:t>군집 요약</a:t>
            </a:r>
          </a:p>
          <a:p>
            <a:pPr>
              <a:defRPr sz="1000">
                <a:solidFill>
                  <a:srgbClr val="272B32"/>
                </a:solidFill>
                <a:latin typeface="Aptos"/>
              </a:defRPr>
            </a:pPr>
            <a:r>
              <a:t>C1: 17개 (건축학과, 기계공학과, 화학과...)</a:t>
            </a:r>
            <a:br/>
            <a:r>
              <a:t>C2: 6개 (심리학과, 경영학과, 사회학과...)</a:t>
            </a:r>
            <a:br/>
            <a:r>
              <a:t>C3: 1개 (국어국문학과)</a:t>
            </a:r>
            <a:br/>
            <a:r>
              <a:t>C4: 1개 (디자인학과)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B3D"/>
                </a:solidFill>
                <a:latin typeface="Aptos Display"/>
              </a:defRPr>
            </a:pPr>
            <a:r>
              <a:t>예비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85800"/>
            <a:ext cx="8961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16A74"/>
                </a:solidFill>
                <a:latin typeface="Aptos"/>
              </a:defRPr>
            </a:pPr>
            <a:r>
              <a:t>Heatmap · 상위 유사도 pair · 해석 포인트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98480" y="292608"/>
            <a:ext cx="960120" cy="347472"/>
          </a:xfrm>
          <a:prstGeom prst="roundRect">
            <a:avLst/>
          </a:prstGeom>
          <a:solidFill>
            <a:srgbClr val="1F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16A74"/>
                </a:solidFill>
                <a:latin typeface="Aptos"/>
              </a:defRPr>
            </a:pPr>
            <a:r>
              <a:t>NOVA50301 AI Toolkit · Progress Meeting · 4/5</a:t>
            </a:r>
          </a:p>
        </p:txBody>
      </p:sp>
      <p:pic>
        <p:nvPicPr>
          <p:cNvPr id="6" name="Picture 5" descr="course_similarity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5715000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5532120"/>
            <a:ext cx="5715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16A74"/>
                </a:solidFill>
                <a:latin typeface="Aptos"/>
              </a:defRPr>
            </a:pPr>
            <a:r>
              <a:t>Figure 2 · Course-profile cosine similarity heatmap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1143000"/>
            <a:ext cx="1005840" cy="292608"/>
          </a:xfrm>
          <a:prstGeom prst="roundRect">
            <a:avLst/>
          </a:prstGeom>
          <a:solidFill>
            <a:srgbClr val="1F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정량 요약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1572768"/>
            <a:ext cx="4526280" cy="1143000"/>
          </a:xfrm>
          <a:prstGeom prst="roundRect">
            <a:avLst/>
          </a:prstGeom>
          <a:solidFill>
            <a:srgbClr val="E0F2EE"/>
          </a:solidFill>
          <a:ln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F2B3D"/>
                </a:solidFill>
                <a:latin typeface="Aptos"/>
              </a:defRPr>
            </a:pPr>
            <a:r>
              <a:t>Top similarity pairs</a:t>
            </a:r>
          </a:p>
          <a:p>
            <a:pPr>
              <a:defRPr sz="1000">
                <a:solidFill>
                  <a:srgbClr val="272B32"/>
                </a:solidFill>
                <a:latin typeface="Aptos"/>
              </a:defRPr>
            </a:pPr>
            <a:r>
              <a:t>화학과–화학공학과: 1.000</a:t>
            </a:r>
            <a:br/>
            <a:r>
              <a:t>경영학과–경제학과: 1.000</a:t>
            </a:r>
            <a:br/>
            <a:r>
              <a:t>기계공학과–자동차공학과: 0.951</a:t>
            </a:r>
            <a:br/>
            <a:r>
              <a:t>기계공학과–전기전자공학과: 0.947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2907792"/>
            <a:ext cx="4526280" cy="868680"/>
          </a:xfrm>
          <a:prstGeom prst="roundRect">
            <a:avLst/>
          </a:prstGeom>
          <a:solidFill>
            <a:srgbClr val="F4F6F8"/>
          </a:solidFill>
          <a:ln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F2B3D"/>
                </a:solidFill>
                <a:latin typeface="Aptos"/>
              </a:defRPr>
            </a:pPr>
            <a:r>
              <a:t>핵심 발견 1</a:t>
            </a:r>
          </a:p>
          <a:p>
            <a:pPr>
              <a:defRPr sz="1000">
                <a:solidFill>
                  <a:srgbClr val="272B32"/>
                </a:solidFill>
                <a:latin typeface="Aptos"/>
              </a:defRPr>
            </a:pPr>
            <a:r>
              <a:t>자동차공학과는 기계공학과·전기전자공학과와 높은 유사도를 보여 applied engineering boundary case로 설명 가능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3931920"/>
            <a:ext cx="4526280" cy="868680"/>
          </a:xfrm>
          <a:prstGeom prst="roundRect">
            <a:avLst/>
          </a:prstGeom>
          <a:solidFill>
            <a:srgbClr val="F4F6F8"/>
          </a:solidFill>
          <a:ln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F2B3D"/>
                </a:solidFill>
                <a:latin typeface="Aptos"/>
              </a:defRPr>
            </a:pPr>
            <a:r>
              <a:t>핵심 발견 2</a:t>
            </a:r>
          </a:p>
          <a:p>
            <a:pPr>
              <a:defRPr sz="1000">
                <a:solidFill>
                  <a:srgbClr val="272B32"/>
                </a:solidFill>
                <a:latin typeface="Aptos"/>
              </a:defRPr>
            </a:pPr>
            <a:r>
              <a:t>공학/자연/의약/정량 계열이 큰 군집으로 묶여 세부 해석에는 local similarity 확인이 필요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4956048"/>
            <a:ext cx="4526280" cy="658368"/>
          </a:xfrm>
          <a:prstGeom prst="roundRect">
            <a:avLst/>
          </a:prstGeom>
          <a:solidFill>
            <a:srgbClr val="F9EFDC"/>
          </a:solidFill>
          <a:ln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F2B3D"/>
                </a:solidFill>
                <a:latin typeface="Aptos"/>
              </a:defRPr>
            </a:pPr>
            <a:r>
              <a:t>주의</a:t>
            </a:r>
          </a:p>
          <a:p>
            <a:pPr>
              <a:defRPr sz="1000">
                <a:solidFill>
                  <a:srgbClr val="272B32"/>
                </a:solidFill>
                <a:latin typeface="Aptos"/>
              </a:defRPr>
            </a:pPr>
            <a:r>
              <a:t>결과는 exploratory pattern이며 최종 추천/분류가 아님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B3D"/>
                </a:solidFill>
                <a:latin typeface="Aptos Display"/>
              </a:defRPr>
            </a:pPr>
            <a:r>
              <a:t>다음 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85800"/>
            <a:ext cx="8961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16A74"/>
                </a:solidFill>
                <a:latin typeface="Aptos"/>
              </a:defRPr>
            </a:pPr>
            <a:r>
              <a:t>Final Report에서 확장할 분석과 보수적 해석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98480" y="292608"/>
            <a:ext cx="960120" cy="347472"/>
          </a:xfrm>
          <a:prstGeom prst="roundRect">
            <a:avLst/>
          </a:prstGeom>
          <a:solidFill>
            <a:srgbClr val="1F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5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16A74"/>
                </a:solidFill>
                <a:latin typeface="Aptos"/>
              </a:defRPr>
            </a:pPr>
            <a:r>
              <a:t>NOVA50301 AI Toolkit · Progress Meeting · 5/5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640080" cy="292608"/>
          </a:xfrm>
          <a:prstGeom prst="roundRect">
            <a:avLst/>
          </a:prstGeom>
          <a:solidFill>
            <a:srgbClr val="914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WHY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54480"/>
            <a:ext cx="108813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F2B3D"/>
                </a:solidFill>
                <a:latin typeface="Aptos"/>
              </a:defRPr>
            </a:pPr>
            <a:r>
              <a:t>현재 결과의 의미</a:t>
            </a:r>
          </a:p>
          <a:p>
            <a:pPr>
              <a:defRPr sz="1000">
                <a:solidFill>
                  <a:srgbClr val="272B32"/>
                </a:solidFill>
                <a:latin typeface="Aptos"/>
              </a:defRPr>
            </a:pPr>
            <a:r>
              <a:t>Hierarchical clustering은 권장과목 profile의 예비 구조를 보여주지만, 큰 군집과 singleton cluster의 해석에는 민감도 분석과 제한점 논의가 필요하다.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743200"/>
            <a:ext cx="1828800" cy="292608"/>
          </a:xfrm>
          <a:prstGeom prst="roundRect">
            <a:avLst/>
          </a:prstGeom>
          <a:solidFill>
            <a:srgbClr val="1F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Final Report Roadmap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182112"/>
            <a:ext cx="2514600" cy="914400"/>
          </a:xfrm>
          <a:prstGeom prst="roundRect">
            <a:avLst/>
          </a:prstGeom>
          <a:solidFill>
            <a:srgbClr val="E0F2EE"/>
          </a:solidFill>
          <a:ln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F2B3D"/>
                </a:solidFill>
                <a:latin typeface="Aptos"/>
              </a:defRPr>
            </a:pPr>
            <a:r>
              <a:t>W13</a:t>
            </a:r>
          </a:p>
          <a:p>
            <a:pPr>
              <a:defRPr sz="1000">
                <a:solidFill>
                  <a:srgbClr val="272B32"/>
                </a:solidFill>
                <a:latin typeface="Aptos"/>
              </a:defRPr>
            </a:pPr>
            <a:r>
              <a:t>Progress 발표</a:t>
            </a:r>
            <a:br/>
            <a:r>
              <a:t>현재 결과 점검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3182112"/>
            <a:ext cx="2514600" cy="914400"/>
          </a:xfrm>
          <a:prstGeom prst="roundRect">
            <a:avLst/>
          </a:prstGeom>
          <a:solidFill>
            <a:srgbClr val="F4F6F8"/>
          </a:solidFill>
          <a:ln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F2B3D"/>
                </a:solidFill>
                <a:latin typeface="Aptos"/>
              </a:defRPr>
            </a:pPr>
            <a:r>
              <a:t>W14</a:t>
            </a:r>
          </a:p>
          <a:p>
            <a:pPr>
              <a:defRPr sz="1000">
                <a:solidFill>
                  <a:srgbClr val="272B32"/>
                </a:solidFill>
                <a:latin typeface="Aptos"/>
              </a:defRPr>
            </a:pPr>
            <a:r>
              <a:t>k-means 비교</a:t>
            </a:r>
            <a:br/>
            <a:r>
              <a:t>cluster 수 민감도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3182112"/>
            <a:ext cx="2514600" cy="914400"/>
          </a:xfrm>
          <a:prstGeom prst="roundRect">
            <a:avLst/>
          </a:prstGeom>
          <a:solidFill>
            <a:srgbClr val="F4F6F8"/>
          </a:solidFill>
          <a:ln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F2B3D"/>
                </a:solidFill>
                <a:latin typeface="Aptos"/>
              </a:defRPr>
            </a:pPr>
            <a:r>
              <a:t>W15</a:t>
            </a:r>
          </a:p>
          <a:p>
            <a:pPr>
              <a:defRPr sz="1000">
                <a:solidFill>
                  <a:srgbClr val="272B32"/>
                </a:solidFill>
                <a:latin typeface="Aptos"/>
              </a:defRPr>
            </a:pPr>
            <a:r>
              <a:t>결과 해석 정리</a:t>
            </a:r>
            <a:br/>
            <a:r>
              <a:t>한계와 boundary case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3182112"/>
            <a:ext cx="2514600" cy="914400"/>
          </a:xfrm>
          <a:prstGeom prst="roundRect">
            <a:avLst/>
          </a:prstGeom>
          <a:solidFill>
            <a:srgbClr val="F9EFDC"/>
          </a:solidFill>
          <a:ln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F2B3D"/>
                </a:solidFill>
                <a:latin typeface="Aptos"/>
              </a:defRPr>
            </a:pPr>
            <a:r>
              <a:t>W16</a:t>
            </a:r>
          </a:p>
          <a:p>
            <a:pPr>
              <a:defRPr sz="1000">
                <a:solidFill>
                  <a:srgbClr val="272B32"/>
                </a:solidFill>
                <a:latin typeface="Aptos"/>
              </a:defRPr>
            </a:pPr>
            <a:r>
              <a:t>5-page final report</a:t>
            </a:r>
            <a:br/>
            <a:r>
              <a:t>Future work 정리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800600"/>
            <a:ext cx="1234440" cy="292608"/>
          </a:xfrm>
          <a:prstGeom prst="roundRect">
            <a:avLst/>
          </a:prstGeom>
          <a:solidFill>
            <a:srgbClr val="20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Future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230368"/>
            <a:ext cx="1042416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72B32"/>
                </a:solidFill>
                <a:latin typeface="Aptos"/>
              </a:defRPr>
            </a:pPr>
            <a:r>
              <a:t>Expert consensus, admission score feasibility, candidate generation은 future work</a:t>
            </a:r>
          </a:p>
          <a:p>
            <a:pPr>
              <a:spcAft>
                <a:spcPts val="500"/>
              </a:spcAft>
              <a:defRPr sz="1200">
                <a:solidFill>
                  <a:srgbClr val="272B32"/>
                </a:solidFill>
                <a:latin typeface="Aptos"/>
              </a:defRPr>
            </a:pPr>
            <a:r>
              <a:t>현재 Progress 단계는 department-course matrix와 clustering 결과에 제한</a:t>
            </a:r>
          </a:p>
          <a:p>
            <a:pPr>
              <a:spcAft>
                <a:spcPts val="500"/>
              </a:spcAft>
              <a:defRPr sz="1200">
                <a:solidFill>
                  <a:srgbClr val="272B32"/>
                </a:solidFill>
                <a:latin typeface="Aptos"/>
              </a:defRPr>
            </a:pPr>
            <a:r>
              <a:t>최종 주장은 '자동 추천'이 아니라 '상담 지원을 위한 해석 가능한 유사성 탐색'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